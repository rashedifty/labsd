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26"/>
    <p:sldId id="259" r:id="rId5"/>
    <p:sldId id="260" r:id="rId6"/>
    <p:sldId id="261" r:id="rId7"/>
    <p:sldId id="263" r:id="rId9"/>
    <p:sldId id="264" r:id="rId10"/>
    <p:sldId id="262" r:id="rId8"/>
    <p:sldId id="278" r:id="rId28"/>
    <p:sldId id="267" r:id="rId13"/>
    <p:sldId id="266" r:id="rId12"/>
    <p:sldId id="268" r:id="rId14"/>
    <p:sldId id="270" r:id="rId16"/>
    <p:sldId id="271" r:id="rId17"/>
    <p:sldId id="277" r:id="rId2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 snapToObjects="1">
      <p:cViewPr>
        <p:scale>
          <a:sx n="125" d="100"/>
          <a:sy n="125" d="100"/>
        </p:scale>
        <p:origin x="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0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4.xml"/><Relationship Id="rId27" Type="http://schemas.openxmlformats.org/officeDocument/2006/relationships/slide" Target="slides/slide17.xml"/><Relationship Id="rId2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270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" y="393192"/>
            <a:ext cx="11405311" cy="6071616"/>
          </a:xfrm>
          <a:prstGeom prst="rect">
            <a:avLst/>
          </a:prstGeom>
          <a:noFill/>
          <a:ln w="635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spc="300">
                <a:solidFill>
                  <a:srgbClr val="B08D57"/>
                </a:solidFill>
                <a:latin typeface="Cambria"/>
              </a:rPr>
              <a:t>0ALD515  ·  RESEARCH IN COMPUTER SCIENCE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11535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An Empirical Analysis of Entangled Enhancement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in an Autonomous Driving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8407" y="2887726"/>
            <a:ext cx="2258568" cy="127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4719" y="2887726"/>
            <a:ext cx="2258568" cy="127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iamond 8"/>
          <p:cNvSpPr/>
          <p:nvPr/>
        </p:nvSpPr>
        <p:spPr>
          <a:xfrm>
            <a:off x="6036411" y="2834640"/>
            <a:ext cx="118872" cy="118872"/>
          </a:xfrm>
          <a:prstGeom prst="diamond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9497" y="3337560"/>
            <a:ext cx="12700" cy="2011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2367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spc="200">
                <a:solidFill>
                  <a:srgbClr val="B08D57"/>
                </a:solidFill>
                <a:latin typeface="Cambria"/>
              </a:rPr>
              <a:t>PRESENTER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367" y="3628382"/>
            <a:ext cx="4572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2400" b="0" i="0" dirty="0">
                <a:solidFill>
                  <a:srgbClr val="FFFFFF"/>
                </a:solidFill>
                <a:latin typeface="Cambria"/>
              </a:rPr>
              <a:t>Ifty </a:t>
            </a:r>
            <a:r>
              <a:rPr sz="2400" b="0" i="0" dirty="0">
                <a:solidFill>
                  <a:srgbClr val="FFFFFF"/>
                </a:solidFill>
                <a:latin typeface="Cambria"/>
              </a:rPr>
              <a:t>Rashedul Arefin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367" y="4069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C9D3E0"/>
                </a:solidFill>
                <a:latin typeface="Cambria"/>
              </a:rPr>
              <a:t>Student ID: 202620721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44348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0" i="0">
                <a:solidFill>
                  <a:srgbClr val="C9D3E0"/>
                </a:solidFill>
                <a:latin typeface="Cambria"/>
                <a:ea typeface="Yu Mincho"/>
              </a:rPr>
              <a:t>理工情報生命学術院</a:t>
            </a:r>
          </a:p>
          <a:p>
            <a:pPr algn="r"/>
            <a:r>
              <a:rPr sz="1300" b="0" i="0">
                <a:solidFill>
                  <a:srgbClr val="C9D3E0"/>
                </a:solidFill>
                <a:latin typeface="Cambria"/>
                <a:ea typeface="Yu Mincho"/>
              </a:rPr>
              <a:t>システム情報工学研究群</a:t>
            </a:r>
          </a:p>
          <a:p>
            <a:pPr algn="r"/>
            <a:r>
              <a:rPr sz="1300" b="0" i="0">
                <a:solidFill>
                  <a:srgbClr val="C9D3E0"/>
                </a:solidFill>
                <a:latin typeface="Cambria"/>
                <a:ea typeface="Yu Mincho"/>
              </a:rPr>
              <a:t>情報理工学位プログラム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B08D57"/>
                </a:solidFill>
                <a:latin typeface="Cambria"/>
              </a:rPr>
              <a:t>SUPERVISOR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58444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mbria"/>
              </a:rPr>
              <a:t>Fumio Machida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4069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3E0"/>
                </a:solidFill>
                <a:latin typeface="Cambria"/>
              </a:rPr>
              <a:t>Associate Professor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4434840"/>
            <a:ext cx="4572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C9D3E0"/>
                </a:solidFill>
                <a:latin typeface="Cambria"/>
              </a:rPr>
              <a:t>Department of Systems and Information Engineering</a:t>
            </a:r>
            <a:br>
              <a:rPr lang="en-US" sz="1300" b="0" i="0" dirty="0">
                <a:solidFill>
                  <a:srgbClr val="C9D3E0"/>
                </a:solidFill>
                <a:latin typeface="Cambria"/>
              </a:rPr>
            </a:br>
            <a:r>
              <a:rPr lang="en-US" sz="1300" b="0" i="0" dirty="0">
                <a:solidFill>
                  <a:srgbClr val="C9D3E0"/>
                </a:solidFill>
                <a:latin typeface="Cambria"/>
              </a:rPr>
              <a:t>University of Tsukuba</a:t>
            </a:r>
            <a:endParaRPr sz="1300" b="0" i="0" dirty="0">
              <a:solidFill>
                <a:srgbClr val="C9D3E0"/>
              </a:solidFill>
              <a:latin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651659"/>
            <a:ext cx="1036289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rgbClr val="C9D3E0"/>
                </a:solidFill>
                <a:latin typeface="Cambria"/>
              </a:rPr>
              <a:t>Dependable AI Systems Laboratory</a:t>
            </a:r>
          </a:p>
          <a:p>
            <a:pPr algn="ctr"/>
            <a:r>
              <a:rPr sz="1600" b="0" i="0" spc="150" dirty="0">
                <a:solidFill>
                  <a:srgbClr val="B08D57"/>
                </a:solidFill>
                <a:latin typeface="Cambria"/>
              </a:rPr>
              <a:t>University of Tsukuba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63056"/>
            <a:ext cx="1036289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9D3E0"/>
                </a:solidFill>
                <a:latin typeface="Cambria"/>
              </a:rPr>
              <a:t>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463040"/>
            <a:ext cx="9265615" cy="7498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1463040"/>
            <a:ext cx="914400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08D57"/>
                </a:solidFill>
                <a:latin typeface="Cambria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36192"/>
            <a:ext cx="78025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mbria"/>
              </a:rPr>
              <a:t>Background and Existing Studies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92808"/>
            <a:ext cx="7802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mbria"/>
              </a:rPr>
              <a:t>Entangled enhancement and the limitation of existing studies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377440"/>
            <a:ext cx="9265615" cy="7498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2377440"/>
            <a:ext cx="914400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3774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08D57"/>
                </a:solidFill>
                <a:latin typeface="Cambria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450592"/>
            <a:ext cx="78025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mbria"/>
              </a:rPr>
              <a:t>Objective and Research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807208"/>
            <a:ext cx="7802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mbria"/>
              </a:rPr>
              <a:t>What this study investigates, and why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291840"/>
            <a:ext cx="9265615" cy="7498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3040" y="3291840"/>
            <a:ext cx="914400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2918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08D57"/>
                </a:solidFill>
                <a:latin typeface="Cambria"/>
              </a:rPr>
              <a:t>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364992"/>
            <a:ext cx="78025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mbria"/>
              </a:rPr>
              <a:t>Target Pipeline and Experimental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721608"/>
            <a:ext cx="7802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mbria"/>
              </a:rPr>
              <a:t>Data, pipeline, updates of </a:t>
            </a:r>
            <a:r>
              <a:rPr sz="1400" b="0" i="1">
                <a:solidFill>
                  <a:srgbClr val="6B7280"/>
                </a:solidFill>
                <a:latin typeface="Cambria"/>
              </a:rPr>
              <a:t>C</a:t>
            </a:r>
            <a:r>
              <a:rPr sz="1400" b="0" i="1" baseline="-25000">
                <a:solidFill>
                  <a:srgbClr val="6B7280"/>
                </a:solidFill>
                <a:latin typeface="Cambria"/>
              </a:rPr>
              <a:t>1</a:t>
            </a:r>
            <a:r>
              <a:rPr sz="1400" b="0" i="1">
                <a:solidFill>
                  <a:srgbClr val="6B7280"/>
                </a:solidFill>
                <a:latin typeface="Cambria"/>
              </a:rPr>
              <a:t>, and one experiment for each research question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4206240"/>
            <a:ext cx="9265615" cy="7498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63040" y="4206240"/>
            <a:ext cx="914400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42062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08D57"/>
                </a:solidFill>
                <a:latin typeface="Cambria"/>
              </a:rPr>
              <a:t>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279392"/>
            <a:ext cx="78025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mbria"/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36008"/>
            <a:ext cx="7802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mbria"/>
              </a:rPr>
              <a:t>One answer for each research question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120640"/>
            <a:ext cx="9265615" cy="749808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463040" y="5120640"/>
            <a:ext cx="914400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5120640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B08D57"/>
                </a:solidFill>
                <a:latin typeface="Cambria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193792"/>
            <a:ext cx="780257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550408"/>
            <a:ext cx="780257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mbria"/>
              </a:rPr>
              <a:t>Summary and the next step toward early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Background: Entangled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 ·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MACHINE LEARNING SYSTEM (MLS) AS 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mbria"/>
              </a:rPr>
              <a:t>Each model uses the output of the upstream model before it. The models after it are downstream.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103120"/>
            <a:ext cx="150876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194560"/>
            <a:ext cx="1508760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2400" b="1" i="0" baseline="-2500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54833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D3E0"/>
                </a:solidFill>
                <a:latin typeface="Cambria"/>
              </a:rPr>
              <a:t>Perception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103120"/>
            <a:ext cx="150876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194560"/>
            <a:ext cx="1508760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2400" b="1" i="0" baseline="-2500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54833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D3E0"/>
                </a:solidFill>
                <a:latin typeface="Cambria"/>
              </a:rPr>
              <a:t>Prediction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103120"/>
            <a:ext cx="1508760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2194560"/>
            <a:ext cx="1508760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2400" b="1" i="0" baseline="-2500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554833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C9D3E0"/>
                </a:solidFill>
                <a:latin typeface="Cambria"/>
              </a:rPr>
              <a:t>Planning 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537460"/>
            <a:ext cx="45720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2537460"/>
            <a:ext cx="41148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537460"/>
            <a:ext cx="41148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92240" y="2537460"/>
            <a:ext cx="50292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21717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mbria"/>
              </a:rPr>
              <a:t>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717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mbria"/>
              </a:rPr>
              <a:t>path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97380" y="2971800"/>
            <a:ext cx="0" cy="594360"/>
          </a:xfrm>
          <a:prstGeom prst="line">
            <a:avLst/>
          </a:prstGeom>
          <a:ln w="25400">
            <a:solidFill>
              <a:srgbClr val="B08D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07108" y="30815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B08D57"/>
                </a:solidFill>
                <a:latin typeface="Cambria"/>
              </a:rPr>
              <a:t>retraining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566160"/>
            <a:ext cx="1508760" cy="868680"/>
          </a:xfrm>
          <a:prstGeom prst="rect">
            <a:avLst/>
          </a:prstGeom>
          <a:solidFill>
            <a:srgbClr val="F6F3EC"/>
          </a:solidFill>
          <a:ln w="1905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3657600"/>
            <a:ext cx="1508760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24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2400" b="1" i="0">
                <a:solidFill>
                  <a:srgbClr val="0B2545"/>
                </a:solidFill>
                <a:latin typeface="Cambria"/>
              </a:rPr>
              <a:t>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017873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mbria"/>
              </a:rPr>
              <a:t>Updated model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2880360" y="3749040"/>
            <a:ext cx="219456" cy="182880"/>
          </a:xfrm>
          <a:prstGeom prst="triangl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363931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mbria"/>
              </a:rPr>
              <a:t>The performance of C</a:t>
            </a:r>
            <a:r>
              <a:rPr sz="15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500" b="0" i="0">
                <a:solidFill>
                  <a:srgbClr val="1F2937"/>
                </a:solidFill>
                <a:latin typeface="Cambria"/>
              </a:rPr>
              <a:t>′ improves.</a:t>
            </a: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2880360" y="4224528"/>
            <a:ext cx="219456" cy="182880"/>
          </a:xfrm>
          <a:prstGeom prst="triangle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41148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8B2E2E"/>
                </a:solidFill>
                <a:latin typeface="Cambria"/>
              </a:rPr>
              <a:t>The performance of the MLS does not improve.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1371600"/>
            <a:ext cx="4053535" cy="310896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52360" y="1371600"/>
            <a:ext cx="63500" cy="31089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0" y="1554480"/>
            <a:ext cx="35048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B08D57"/>
                </a:solidFill>
                <a:latin typeface="Cambria"/>
              </a:rPr>
              <a:t>DEFINITION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965960"/>
            <a:ext cx="350489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F2937"/>
                </a:solidFill>
                <a:latin typeface="Cambria"/>
              </a:rPr>
              <a:t>Entangled enhancement</a:t>
            </a:r>
            <a:r>
              <a:rPr sz="1900" b="0" i="0">
                <a:solidFill>
                  <a:srgbClr val="1F2937"/>
                </a:solidFill>
                <a:latin typeface="Cambria"/>
              </a:rPr>
              <a:t> is a defective retraining of an ML model that improves the updated model but fails to improve the whole 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977640"/>
            <a:ext cx="35048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mbria"/>
              </a:rPr>
              <a:t>Wang and Machida, COMPSAC 2024 and ISSRE 2025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709160"/>
            <a:ext cx="108173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4709160"/>
            <a:ext cx="10817352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709160"/>
            <a:ext cx="1036015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Possible cause studied here: adaptation of downstream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39512"/>
            <a:ext cx="1036015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A downstream model is trained on the output of the original upstream model, including its errors. The downstream model learns to work with these errors. The retraining changes these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 ·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THE CHALLENGE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9164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Updates are routine.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3911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A driving system retrains its perception model 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when it meets new data, for example a new city.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51460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Downstream models adapt to </a:t>
            </a:r>
            <a:r>
              <a:rPr sz="17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7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700" b="1" i="0">
                <a:solidFill>
                  <a:srgbClr val="0B2545"/>
                </a:solidFill>
                <a:latin typeface="Cambria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6207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are trained on the output of 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and learn to work with the errors of 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3756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A better C</a:t>
            </a:r>
            <a:r>
              <a:rPr sz="17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700" b="1" i="0">
                <a:solidFill>
                  <a:srgbClr val="0B2545"/>
                </a:solidFill>
                <a:latin typeface="Cambria"/>
              </a:rPr>
              <a:t> is not always a better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Entangled enhancement can increase the error of 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and 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16052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Little is known about real pipelines.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0799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Existing studies describe the risk but do not examine entangled enhancement in a real autonomous driving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74920"/>
            <a:ext cx="108200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074920"/>
            <a:ext cx="76200" cy="9601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PRIMARY</a:t>
            </a:r>
          </a:p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074920"/>
            <a:ext cx="839693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mbria"/>
              </a:rPr>
              <a:t>Find out whether an update that improves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increases the error of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and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in a real autonomous driving pipeline, and whether the adaptation of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and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to the errors of 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600" b="0" i="0">
                <a:solidFill>
                  <a:srgbClr val="FFFFFF"/>
                </a:solidFill>
                <a:latin typeface="Cambria"/>
              </a:rPr>
              <a:t> causes the increase.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Existing Studies and Their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 ·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678140"/>
              </p:ext>
            </p:extLst>
          </p:nvPr>
        </p:nvGraphicFramePr>
        <p:xfrm>
          <a:off x="685800" y="1371600"/>
          <a:ext cx="10820094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3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2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4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STUDY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WHAT THE STUDY SHOWS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WHAT REMAINS OPEN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2545"/>
                          </a:solidFill>
                          <a:latin typeface="Cambria"/>
                        </a:rPr>
                        <a:t>Sculley et al.</a:t>
                      </a:r>
                    </a:p>
                    <a:p>
                      <a:pPr algn="l"/>
                      <a:r>
                        <a:rPr sz="1200" b="0" i="1">
                          <a:solidFill>
                            <a:srgbClr val="6B7280"/>
                          </a:solidFill>
                          <a:latin typeface="Cambria"/>
                        </a:rPr>
                        <a:t>NIPS 2015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A change to one model of an MLS changes the behaviour of every model that uses its output.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The study describes the risk. The study does not measure how often the risk occurs.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2545"/>
                          </a:solidFill>
                          <a:latin typeface="Cambria"/>
                        </a:rPr>
                        <a:t>Wu et al.</a:t>
                      </a:r>
                    </a:p>
                    <a:p>
                      <a:pPr algn="l"/>
                      <a:r>
                        <a:rPr sz="1200" b="0" i="1">
                          <a:solidFill>
                            <a:srgbClr val="6B7280"/>
                          </a:solidFill>
                          <a:latin typeface="Cambria"/>
                        </a:rPr>
                        <a:t>NeurIPS 2021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Improving one model of a system can make the whole system worse.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The study does not examine a pipeline of perception, prediction and planning models.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2545"/>
                          </a:solidFill>
                          <a:latin typeface="Cambria"/>
                        </a:rPr>
                        <a:t>Wang and Machida</a:t>
                      </a:r>
                    </a:p>
                    <a:p>
                      <a:pPr algn="l"/>
                      <a:r>
                        <a:rPr sz="1200" b="0" i="1">
                          <a:solidFill>
                            <a:srgbClr val="6B7280"/>
                          </a:solidFill>
                          <a:latin typeface="Cambria"/>
                        </a:rPr>
                        <a:t>COMPSAC 2024, ISSRE 2025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Models of when an MLS should retrain each of its ML models.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The models take the probability of entangled enhancement as an input.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B2545"/>
                          </a:solidFill>
                          <a:latin typeface="Cambria"/>
                        </a:rPr>
                        <a:t>Xu et al.</a:t>
                      </a:r>
                    </a:p>
                    <a:p>
                      <a:pPr algn="l"/>
                      <a:r>
                        <a:rPr sz="1200" b="0" i="1">
                          <a:solidFill>
                            <a:srgbClr val="6B7280"/>
                          </a:solidFill>
                          <a:latin typeface="Cambria"/>
                        </a:rPr>
                        <a:t>ICRA 2024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7"/>
                          </a:solidFill>
                          <a:latin typeface="Cambria"/>
                        </a:rPr>
                        <a:t>The prediction error increases when the input comes from a real perception model instead of the ground truth, which consists of the objects labelled by hand.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1F2937"/>
                          </a:solidFill>
                          <a:latin typeface="Cambria"/>
                        </a:rPr>
                        <a:t>The study does not examine a retraining of the perception model.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4892040"/>
            <a:ext cx="10820095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892040"/>
            <a:ext cx="762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8920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spc="200">
                <a:solidFill>
                  <a:srgbClr val="B08D57"/>
                </a:solidFill>
                <a:latin typeface="Cambria"/>
              </a:rPr>
              <a:t>RESEARCH</a:t>
            </a:r>
          </a:p>
          <a:p>
            <a:pPr algn="l"/>
            <a:r>
              <a:rPr sz="1500" b="1" i="0" spc="200">
                <a:solidFill>
                  <a:srgbClr val="B08D57"/>
                </a:solidFill>
                <a:latin typeface="Cambria"/>
              </a:rPr>
              <a:t>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92040"/>
            <a:ext cx="816833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mbria"/>
              </a:rPr>
              <a:t>None of these studies examined the significance of entangled enhancement in a real autonomous driving pipeline of perception, prediction and planning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Objective and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II ·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6200" cy="914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spc="200">
                <a:solidFill>
                  <a:srgbClr val="B08D57"/>
                </a:solidFill>
                <a:latin typeface="Cambria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325880"/>
            <a:ext cx="862553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Cambria"/>
              </a:rPr>
              <a:t>In this study, we empirically investigate whether an update that improves the perception model 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7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 increases the error of the prediction model 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7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 and the planning model 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7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. When increased errors are observed, we further investigate the impact of adaptation of 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7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7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7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68880"/>
            <a:ext cx="527151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5271516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468880"/>
            <a:ext cx="49057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B08D57"/>
                </a:solidFill>
                <a:latin typeface="Cambria"/>
              </a:rPr>
              <a:t>RQ1 ·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49057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Does an update that improves 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 increase the error of 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 or 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49057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B08D57"/>
                </a:solidFill>
                <a:latin typeface="Cambria"/>
              </a:rPr>
              <a:t>WHY WE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96512"/>
            <a:ext cx="49057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Existing studies describe the risk of entangled enhancement. None of these studies examined the risk in a real autonomous driving pipeline.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148072"/>
            <a:ext cx="5052059" cy="9144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8" y="5148072"/>
            <a:ext cx="50800" cy="914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193792"/>
            <a:ext cx="472287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1">
                <a:solidFill>
                  <a:srgbClr val="1F2937"/>
                </a:solidFill>
                <a:latin typeface="Cambria"/>
              </a:rPr>
              <a:t>Experiment: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update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30 times.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and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are trained on the output of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and stay fixed.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468880"/>
            <a:ext cx="527151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1636" y="2468880"/>
            <a:ext cx="5271516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4516" y="2468880"/>
            <a:ext cx="49057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50">
                <a:solidFill>
                  <a:srgbClr val="B08D57"/>
                </a:solidFill>
                <a:latin typeface="Cambria"/>
              </a:rPr>
              <a:t>RQ2 · CAUSE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3017520"/>
            <a:ext cx="490575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Does the increase come from the adaptation of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 and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 to the errors of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4516" y="3840480"/>
            <a:ext cx="49057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B08D57"/>
                </a:solidFill>
                <a:latin typeface="Cambria"/>
              </a:rPr>
              <a:t>WHY WE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4516" y="4096512"/>
            <a:ext cx="49057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Only training on the output of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lets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learn the errors of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. An update then changes these errors.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1364" y="5148072"/>
            <a:ext cx="5052059" cy="9144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1364" y="5148072"/>
            <a:ext cx="50800" cy="914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1675" y="5193792"/>
            <a:ext cx="472287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1">
                <a:solidFill>
                  <a:srgbClr val="1F2937"/>
                </a:solidFill>
                <a:latin typeface="Cambria"/>
              </a:rPr>
              <a:t>Experiment: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compare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and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trained on the ground truth with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and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 trained on the output of 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1">
                <a:solidFill>
                  <a:srgbClr val="1F2937"/>
                </a:solidFill>
                <a:latin typeface="Cambria"/>
              </a:rPr>
              <a:t>, on the same 30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Target Pipeline and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III ·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AUTONOMOUS DRIVING PIPELINE OF THREE ML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1188720" cy="1051560"/>
          </a:xfrm>
          <a:prstGeom prst="rect">
            <a:avLst/>
          </a:prstGeom>
          <a:solidFill>
            <a:srgbClr val="F6F3EC"/>
          </a:solidFill>
          <a:ln w="1270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11887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2545"/>
                </a:solidFill>
                <a:latin typeface="Cambria"/>
              </a:rPr>
              <a:t>Front-camera</a:t>
            </a:r>
          </a:p>
          <a:p>
            <a:pPr algn="ctr"/>
            <a:r>
              <a:rPr sz="1400" b="1" i="0">
                <a:solidFill>
                  <a:srgbClr val="0B2545"/>
                </a:solidFill>
                <a:latin typeface="Cambria"/>
              </a:rPr>
              <a:t>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69164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0" y="1691640"/>
            <a:ext cx="288036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169164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Perception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40280"/>
            <a:ext cx="255117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0B2545"/>
                </a:solidFill>
                <a:latin typeface="Cambria"/>
              </a:rPr>
              <a:t>YOLOv11n object detector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2606040"/>
            <a:ext cx="548640" cy="1905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59152" y="2715768"/>
            <a:ext cx="255117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mbria"/>
              </a:rPr>
              <a:t>Output: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objects with class, position and confidence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20" y="2811780"/>
            <a:ext cx="32004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94960" y="169164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94960" y="1691640"/>
            <a:ext cx="288036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59552" y="169164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Prediction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240280"/>
            <a:ext cx="255117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0B2545"/>
                </a:solidFill>
                <a:latin typeface="Cambria"/>
              </a:rPr>
              <a:t>AutoBot-Ego style transformer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9552" y="2606040"/>
            <a:ext cx="548640" cy="1905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59552" y="2715768"/>
            <a:ext cx="255117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mbria"/>
              </a:rPr>
              <a:t>Input: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objects in the last four labelled images (1.5 s)</a:t>
            </a:r>
          </a:p>
          <a:p>
            <a:pPr algn="l"/>
            <a:r>
              <a:rPr sz="1250" b="1" i="0">
                <a:solidFill>
                  <a:srgbClr val="1F2937"/>
                </a:solidFill>
                <a:latin typeface="Cambria"/>
              </a:rPr>
              <a:t>Output: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six possible paths of 3 s for each object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811780"/>
            <a:ext cx="32004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595360" y="169164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95360" y="1691640"/>
            <a:ext cx="288036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9952" y="169164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Planning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2240280"/>
            <a:ext cx="255117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0B2545"/>
                </a:solidFill>
                <a:latin typeface="Cambria"/>
              </a:rPr>
              <a:t>PlanT style transformer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2606040"/>
            <a:ext cx="548640" cy="1905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9952" y="2715768"/>
            <a:ext cx="255117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mbria"/>
              </a:rPr>
              <a:t>Input: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objects with their most likely path, driving command, path of the ego vehicle over the last 1.5 s (ego path)</a:t>
            </a:r>
          </a:p>
          <a:p>
            <a:pPr algn="l"/>
            <a:r>
              <a:rPr sz="1250" b="1" i="0">
                <a:solidFill>
                  <a:srgbClr val="1F2937"/>
                </a:solidFill>
                <a:latin typeface="Cambria"/>
              </a:rPr>
              <a:t>Output: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planned path of the ego vehicle for 3 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75320" y="2811780"/>
            <a:ext cx="32004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977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NOTATION FOR ONE UPDATE OF </a:t>
            </a:r>
            <a:r>
              <a:rPr sz="1200" b="1" i="0" spc="150">
                <a:solidFill>
                  <a:srgbClr val="B08D57"/>
                </a:solidFill>
                <a:latin typeface="Cambria"/>
              </a:rPr>
              <a:t>C</a:t>
            </a:r>
            <a:r>
              <a:rPr sz="1200" b="1" i="0" spc="150" baseline="-2500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389120"/>
            <a:ext cx="2423160" cy="17830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4805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B08D57"/>
                </a:solidFill>
                <a:latin typeface="Cambria"/>
              </a:rPr>
              <a:t>δ</a:t>
            </a:r>
            <a:r>
              <a:rPr sz="2800" b="1" i="0" baseline="-2500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47488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mbria"/>
              </a:rPr>
              <a:t>Gain of C</a:t>
            </a:r>
            <a:r>
              <a:rPr sz="125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in mAP50, the standard accuracy measure of object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389120"/>
            <a:ext cx="2423160" cy="17830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20440" y="44805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B08D57"/>
                </a:solidFill>
                <a:latin typeface="Cambria"/>
              </a:rPr>
              <a:t>Δ</a:t>
            </a:r>
            <a:r>
              <a:rPr sz="2800" b="1" i="0" baseline="-2500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047488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mbria"/>
              </a:rPr>
              <a:t>Increase of the prediction error minADE: distance between the predicted and the true path, for the best of the six paths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389120"/>
            <a:ext cx="2423160" cy="17830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44805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B08D57"/>
                </a:solidFill>
                <a:latin typeface="Cambria"/>
              </a:rPr>
              <a:t>Δ</a:t>
            </a:r>
            <a:r>
              <a:rPr sz="2800" b="1" i="0" baseline="-25000">
                <a:solidFill>
                  <a:srgbClr val="B08D57"/>
                </a:solidFill>
                <a:latin typeface="Cambria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5047488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mbria"/>
              </a:rPr>
              <a:t>Increase of the planning error: distance between the planned and the recorded position at 3 s (path driven by a human driver)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4389120"/>
            <a:ext cx="2864815" cy="1783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641080" y="4389120"/>
            <a:ext cx="2864815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526280"/>
            <a:ext cx="240761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ENTANGLED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846320"/>
            <a:ext cx="2407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9D3E0"/>
                </a:solidFill>
                <a:latin typeface="Cambria"/>
              </a:rPr>
              <a:t>An update causes entangled enhancement when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5257800"/>
            <a:ext cx="26819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δ</a:t>
            </a:r>
            <a:r>
              <a:rPr sz="19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 &gt; 0   and</a:t>
            </a:r>
          </a:p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(Δ</a:t>
            </a:r>
            <a:r>
              <a:rPr sz="1900" b="1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 &gt; 0   or   Δ</a:t>
            </a:r>
            <a:r>
              <a:rPr sz="1900" b="1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 &gt; 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III ·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6263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DATA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 dirty="0">
                <a:solidFill>
                  <a:srgbClr val="1F2937"/>
                </a:solidFill>
                <a:latin typeface="Cambria"/>
              </a:rPr>
              <a:t>350 of the 850 scenes of </a:t>
            </a:r>
            <a:r>
              <a:rPr sz="1350" b="0" i="1" dirty="0" err="1">
                <a:solidFill>
                  <a:srgbClr val="1F2937"/>
                </a:solidFill>
                <a:latin typeface="Cambria"/>
              </a:rPr>
              <a:t>nuScenes</a:t>
            </a:r>
            <a:r>
              <a:rPr sz="1350" b="0" i="1" dirty="0">
                <a:solidFill>
                  <a:srgbClr val="1F2937"/>
                </a:solidFill>
                <a:latin typeface="Cambria"/>
              </a:rPr>
              <a:t> (driving clips of about 20 s), front camera only, 4.6 GB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3017520" cy="146304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103120"/>
            <a:ext cx="3017520" cy="365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FFFFFF"/>
                </a:solidFill>
                <a:latin typeface="Cambria"/>
              </a:rPr>
              <a:t>BOSTON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1">
                <a:solidFill>
                  <a:srgbClr val="FFFFFF"/>
                </a:solidFill>
                <a:latin typeface="Cambria"/>
              </a:rPr>
              <a:t>100 scenes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Training of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6517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mbria"/>
              </a:rPr>
              <a:t>Two initial </a:t>
            </a:r>
            <a:r>
              <a:rPr sz="1200" b="0" i="1" dirty="0">
                <a:solidFill>
                  <a:srgbClr val="6B7280"/>
                </a:solidFill>
                <a:latin typeface="Cambria"/>
              </a:rPr>
              <a:t>C</a:t>
            </a:r>
            <a:r>
              <a:rPr sz="1200" b="0" i="1" dirty="0" baseline="-25000">
                <a:solidFill>
                  <a:srgbClr val="6B7280"/>
                </a:solidFill>
                <a:latin typeface="Cambria"/>
              </a:rPr>
              <a:t>1</a:t>
            </a:r>
            <a:r>
              <a:rPr sz="1200" b="0" i="1" dirty="0">
                <a:solidFill>
                  <a:srgbClr val="6B7280"/>
                </a:solidFill>
                <a:latin typeface="Cambria"/>
              </a:rPr>
              <a:t>, with random seed 0 and seed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103120"/>
            <a:ext cx="3017520" cy="146304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31920" y="2103120"/>
            <a:ext cx="3017520" cy="365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0" y="2103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FFFFFF"/>
                </a:solidFill>
                <a:latin typeface="Cambria"/>
              </a:rPr>
              <a:t>BOSTON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103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1">
                <a:solidFill>
                  <a:srgbClr val="FFFFFF"/>
                </a:solidFill>
                <a:latin typeface="Cambria"/>
              </a:rPr>
              <a:t>100 scenes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560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Training of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 and 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94436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mbria"/>
              </a:rPr>
              <a:t>86 training and 14 validation scenes, separate from Boston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67328"/>
            <a:ext cx="3017520" cy="146304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767328"/>
            <a:ext cx="3017520" cy="3657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7673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FFFFFF"/>
                </a:solidFill>
                <a:latin typeface="Cambria"/>
              </a:rPr>
              <a:t>SINGAPORE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673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1">
                <a:solidFill>
                  <a:srgbClr val="FFFFFF"/>
                </a:solidFill>
                <a:latin typeface="Cambria"/>
              </a:rPr>
              <a:t>100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245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Updates of </a:t>
            </a:r>
            <a:r>
              <a:rPr sz="16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1" i="0" baseline="-25000">
                <a:solidFill>
                  <a:srgbClr val="0B2545"/>
                </a:solidFill>
                <a:latin typeface="Cambr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0857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mbria"/>
              </a:rPr>
              <a:t>A new city, as in an update after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767328"/>
            <a:ext cx="3017520" cy="146304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931920" y="3767328"/>
            <a:ext cx="3017520" cy="3657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0" y="37673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FFFFFF"/>
                </a:solidFill>
                <a:latin typeface="Cambria"/>
              </a:rPr>
              <a:t>SINGAPORE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7673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1">
                <a:solidFill>
                  <a:srgbClr val="FFFFFF"/>
                </a:solidFill>
                <a:latin typeface="Cambria"/>
              </a:rPr>
              <a:t>50 scenes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2245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B2545"/>
                </a:solidFill>
                <a:latin typeface="Cambria"/>
              </a:rPr>
              <a:t>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0857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mbria"/>
              </a:rPr>
              <a:t>1,720 test samples, one per labelled image with 3 s of future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280160"/>
            <a:ext cx="4190695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0" y="1280160"/>
            <a:ext cx="4190695" cy="4114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0" y="1280160"/>
            <a:ext cx="38249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UPDATES OF </a:t>
            </a:r>
            <a:r>
              <a:rPr sz="1250" b="1" i="0" spc="150">
                <a:solidFill>
                  <a:srgbClr val="B08D57"/>
                </a:solidFill>
                <a:latin typeface="Cambria"/>
              </a:rPr>
              <a:t>C</a:t>
            </a:r>
            <a:r>
              <a:rPr sz="1250" b="1" i="0" spc="150" baseline="-2500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17830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B08D57"/>
                </a:solidFill>
                <a:latin typeface="Cambria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1810512"/>
            <a:ext cx="28190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updates</a:t>
            </a:r>
          </a:p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= 2 initial </a:t>
            </a:r>
            <a:r>
              <a:rPr sz="15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500" b="1" i="0">
                <a:solidFill>
                  <a:srgbClr val="0B2545"/>
                </a:solidFill>
                <a:latin typeface="Cambria"/>
              </a:rPr>
              <a:t> × 15 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2578608"/>
            <a:ext cx="38249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Initial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: YOLOv11n, 10 epochs on Boston 1. The 30 updates differ in data, epochs, seed and initial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324366"/>
              </p:ext>
            </p:extLst>
          </p:nvPr>
        </p:nvGraphicFramePr>
        <p:xfrm>
          <a:off x="7498080" y="3246120"/>
          <a:ext cx="3824935" cy="1331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1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 i="0" spc="100">
                          <a:solidFill>
                            <a:srgbClr val="B08D57"/>
                          </a:solidFill>
                          <a:latin typeface="Cambria"/>
                        </a:rPr>
                        <a:t>DATA USED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spc="100">
                          <a:solidFill>
                            <a:srgbClr val="B08D57"/>
                          </a:solidFill>
                          <a:latin typeface="Cambria"/>
                        </a:rPr>
                        <a:t>EPOCHS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spc="100">
                          <a:solidFill>
                            <a:srgbClr val="B08D57"/>
                          </a:solidFill>
                          <a:latin typeface="Cambria"/>
                        </a:rPr>
                        <a:t>SETTINGS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0B2545"/>
                          </a:solidFill>
                          <a:latin typeface="Cambria"/>
                        </a:rPr>
                        <a:t>100 %, 50 %,</a:t>
                      </a:r>
                      <a:br>
                        <a:rPr lang="en-US" sz="1250" b="1" i="0" dirty="0">
                          <a:solidFill>
                            <a:srgbClr val="0B2545"/>
                          </a:solidFill>
                          <a:latin typeface="Cambria"/>
                        </a:rPr>
                      </a:br>
                      <a:r>
                        <a:rPr sz="1250" b="1" i="0" dirty="0">
                          <a:solidFill>
                            <a:srgbClr val="0B2545"/>
                          </a:solidFill>
                          <a:latin typeface="Cambria"/>
                        </a:rPr>
                        <a:t> 25 %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Cambria"/>
                        </a:rPr>
                        <a:t>3 × 3 seeds = 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2545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7"/>
                          </a:solidFill>
                          <a:latin typeface="Cambria"/>
                        </a:rPr>
                        <a:t>5 or 20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1F2937"/>
                          </a:solidFill>
                          <a:latin typeface="Cambria"/>
                        </a:rPr>
                        <a:t>2 × 3 seeds = 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7589520" y="4578096"/>
            <a:ext cx="38249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1" dirty="0">
                <a:solidFill>
                  <a:srgbClr val="6B7280"/>
                </a:solidFill>
                <a:latin typeface="Cambria"/>
              </a:rPr>
              <a:t>A random seed is the starting number for the random choices in training.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321808"/>
            <a:ext cx="10820095" cy="6858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5800" y="5321808"/>
            <a:ext cx="76200" cy="685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5321808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ENVIRONMENT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5321808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mbria"/>
              </a:rPr>
              <a:t>Kaggle (GPU T4 x2)  ·  Intel Xeon 2.0 GHz, 4 virtual cores  ·  31 GB RAM  ·  Ubuntu 24.04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ambria"/>
              </a:rPr>
              <a:t>Training on one NVIDIA Tesla T4 (15 GB)  ·  Python 3.13  ·  PyTorch 2.11 (CUDA 12.8)  ·  Ultralytics 8.4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Experiment for RQ1: Evaluation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III · SETUP · RQ1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PROCEDURE FOR EACH UPDATE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252" y="1794776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Cambria"/>
              </a:rPr>
              <a:t>Run the pipeline with the initial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on the 50 test scenes.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875" y="2286000"/>
            <a:ext cx="19050" cy="347472"/>
          </a:xfrm>
          <a:prstGeom prst="rect">
            <a:avLst/>
          </a:prstGeom>
          <a:solidFill>
            <a:srgbClr val="D9C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2679192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11196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Cambria"/>
              </a:rPr>
              <a:t>Run the same fixed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and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with the updated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′ on the same scenes.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875" y="3182112"/>
            <a:ext cx="19050" cy="347472"/>
          </a:xfrm>
          <a:prstGeom prst="rect">
            <a:avLst/>
          </a:prstGeom>
          <a:solidFill>
            <a:srgbClr val="D9C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3575304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B08D57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57600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Cambria"/>
              </a:rPr>
              <a:t>Compute δ</a:t>
            </a:r>
            <a:r>
              <a:rPr sz="1500" b="0" i="0" baseline="-25000" dirty="0">
                <a:solidFill>
                  <a:srgbClr val="1F2937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, Δ</a:t>
            </a:r>
            <a:r>
              <a:rPr sz="1500" b="0" i="0" baseline="-25000" dirty="0">
                <a:solidFill>
                  <a:srgbClr val="1F2937"/>
                </a:solidFill>
                <a:latin typeface="Cambria"/>
              </a:rPr>
              <a:t>2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and Δ</a:t>
            </a:r>
            <a:r>
              <a:rPr sz="1500" b="0" i="0" baseline="-25000" dirty="0">
                <a:solidFill>
                  <a:srgbClr val="1F2937"/>
                </a:solidFill>
                <a:latin typeface="Cambria"/>
              </a:rPr>
              <a:t>3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as the differences between the two runs.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4078224"/>
            <a:ext cx="19050" cy="347472"/>
          </a:xfrm>
          <a:prstGeom prst="rect">
            <a:avLst/>
          </a:prstGeom>
          <a:solidFill>
            <a:srgbClr val="D9C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471416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471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B08D57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59932"/>
            <a:ext cx="44348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1F2937"/>
                </a:solidFill>
                <a:latin typeface="Cambria"/>
              </a:rPr>
              <a:t>Repeat for all 30 updates.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and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stay trained on the output of 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1F2937"/>
                </a:solidFill>
                <a:latin typeface="Cambria"/>
              </a:rPr>
              <a:t> (pipe training).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394960"/>
            <a:ext cx="5074920" cy="6400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394960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1">
                <a:solidFill>
                  <a:srgbClr val="0B2545"/>
                </a:solidFill>
                <a:latin typeface="Cambria"/>
              </a:rPr>
              <a:t>A single positive Δ can come from chance. Each level of evidence removes one source of chance.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280160"/>
            <a:ext cx="53336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THREE LEVELS OF EVIDENCE FOR AN INCREASE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691640"/>
            <a:ext cx="5333695" cy="868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1691640"/>
            <a:ext cx="76200" cy="868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18013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LEVEL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764792"/>
            <a:ext cx="396209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Any increase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148840"/>
            <a:ext cx="3962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Δ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&gt; 0 or Δ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&gt;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670048"/>
            <a:ext cx="5333695" cy="1783080"/>
          </a:xfrm>
          <a:prstGeom prst="rect">
            <a:avLst/>
          </a:prstGeom>
          <a:solidFill>
            <a:srgbClr val="2E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2670048"/>
            <a:ext cx="76200" cy="17830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277977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LEVEL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2743200"/>
            <a:ext cx="396209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Larger than seed variation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127248"/>
            <a:ext cx="39620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mbria"/>
              </a:rPr>
              <a:t>Seed variation is the change in error when we replace one initial </a:t>
            </a:r>
            <a:r>
              <a:rPr sz="1300" b="0" i="0">
                <a:solidFill>
                  <a:srgbClr val="C9D3E0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C9D3E0"/>
                </a:solidFill>
                <a:latin typeface="Cambria"/>
              </a:rPr>
              <a:t>1</a:t>
            </a:r>
            <a:r>
              <a:rPr sz="1300" b="0" i="0">
                <a:solidFill>
                  <a:srgbClr val="C9D3E0"/>
                </a:solidFill>
                <a:latin typeface="Cambria"/>
              </a:rPr>
              <a:t> by the other initial </a:t>
            </a:r>
            <a:r>
              <a:rPr sz="1300" b="0" i="0">
                <a:solidFill>
                  <a:srgbClr val="C9D3E0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C9D3E0"/>
                </a:solidFill>
                <a:latin typeface="Cambria"/>
              </a:rPr>
              <a:t>1</a:t>
            </a:r>
            <a:r>
              <a:rPr sz="1300" b="0" i="0">
                <a:solidFill>
                  <a:srgbClr val="C9D3E0"/>
                </a:solidFill>
                <a:latin typeface="Cambria"/>
              </a:rPr>
              <a:t>. The two differ only in the random seed and have almost the same accuracy.</a:t>
            </a:r>
          </a:p>
          <a:p>
            <a:pPr algn="l"/>
            <a:r>
              <a:rPr sz="1300" b="1" i="0">
                <a:solidFill>
                  <a:srgbClr val="C9D3E0"/>
                </a:solidFill>
                <a:latin typeface="Cambria"/>
              </a:rPr>
              <a:t>Threshold:  </a:t>
            </a:r>
            <a:r>
              <a:rPr sz="1300" b="1" i="0">
                <a:solidFill>
                  <a:srgbClr val="C9D3E0"/>
                </a:solidFill>
                <a:latin typeface="Cambria"/>
              </a:rPr>
              <a:t>Δ</a:t>
            </a:r>
            <a:r>
              <a:rPr sz="1300" b="1" i="0" baseline="-25000">
                <a:solidFill>
                  <a:srgbClr val="C9D3E0"/>
                </a:solidFill>
                <a:latin typeface="Cambria"/>
              </a:rPr>
              <a:t>2</a:t>
            </a:r>
            <a:r>
              <a:rPr sz="1300" b="1" i="0">
                <a:solidFill>
                  <a:srgbClr val="C9D3E0"/>
                </a:solidFill>
                <a:latin typeface="Cambria"/>
              </a:rPr>
              <a:t> &gt; 0.112 m,  </a:t>
            </a:r>
            <a:r>
              <a:rPr sz="1300" b="1" i="0">
                <a:solidFill>
                  <a:srgbClr val="C9D3E0"/>
                </a:solidFill>
                <a:latin typeface="Cambria"/>
              </a:rPr>
              <a:t>Δ</a:t>
            </a:r>
            <a:r>
              <a:rPr sz="1300" b="1" i="0" baseline="-25000">
                <a:solidFill>
                  <a:srgbClr val="C9D3E0"/>
                </a:solidFill>
                <a:latin typeface="Cambria"/>
              </a:rPr>
              <a:t>3</a:t>
            </a:r>
            <a:r>
              <a:rPr sz="1300" b="1" i="0">
                <a:solidFill>
                  <a:srgbClr val="C9D3E0"/>
                </a:solidFill>
                <a:latin typeface="Cambria"/>
              </a:rPr>
              <a:t> &gt; 0.018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562856"/>
            <a:ext cx="5333695" cy="11887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4562856"/>
            <a:ext cx="76200" cy="1188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467258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LEVEL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636008"/>
            <a:ext cx="396209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Statistically significant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020056"/>
            <a:ext cx="39620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mbria"/>
              </a:rPr>
              <a:t>We randomly resample the 50 test scenes 2,000 times. The middle 95 % of the resampled increases lies above zero.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861304"/>
            <a:ext cx="53336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1">
                <a:solidFill>
                  <a:srgbClr val="6B7280"/>
                </a:solidFill>
                <a:latin typeface="Cambria"/>
              </a:rPr>
              <a:t>weaker  →  stronger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Experiment for RQ2: Two Training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III · SETUP · RQ2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233172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635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270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B08D57"/>
                </a:solidFill>
                <a:latin typeface="Cambria"/>
              </a:rPr>
              <a:t>ISO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C9D3E0"/>
                </a:solidFill>
                <a:latin typeface="Cambria"/>
              </a:rPr>
              <a:t>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2</a:t>
            </a:r>
            <a:r>
              <a:rPr sz="1250" b="0" i="1">
                <a:solidFill>
                  <a:srgbClr val="C9D3E0"/>
                </a:solidFill>
                <a:latin typeface="Cambria"/>
              </a:rPr>
              <a:t> and 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3</a:t>
            </a:r>
            <a:r>
              <a:rPr sz="1250" b="0" i="1">
                <a:solidFill>
                  <a:srgbClr val="C9D3E0"/>
                </a:solidFill>
                <a:latin typeface="Cambria"/>
              </a:rPr>
              <a:t> never see</a:t>
            </a:r>
          </a:p>
          <a:p>
            <a:pPr algn="l"/>
            <a:r>
              <a:rPr sz="1250" b="0" i="1">
                <a:solidFill>
                  <a:srgbClr val="C9D3E0"/>
                </a:solidFill>
                <a:latin typeface="Cambria"/>
              </a:rPr>
              <a:t>the errors of 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103120" cy="1097280"/>
          </a:xfrm>
          <a:prstGeom prst="rect">
            <a:avLst/>
          </a:prstGeom>
          <a:solidFill>
            <a:srgbClr val="F6F3EC"/>
          </a:solidFill>
          <a:ln w="1270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1417320"/>
            <a:ext cx="188366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mbria"/>
              </a:rPr>
              <a:t>Ground truth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mbria"/>
              </a:rPr>
              <a:t>objects labelled by hand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417320"/>
            <a:ext cx="2103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1417320"/>
            <a:ext cx="188366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mbria"/>
              </a:rPr>
              <a:t>Train C</a:t>
            </a:r>
            <a:r>
              <a:rPr sz="1400" b="1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400" b="1" i="0">
                <a:solidFill>
                  <a:srgbClr val="1F2937"/>
                </a:solidFill>
                <a:latin typeface="Cambria"/>
              </a:rPr>
              <a:t> and C</a:t>
            </a:r>
            <a:r>
              <a:rPr sz="1400" b="1" i="0" baseline="-25000">
                <a:solidFill>
                  <a:srgbClr val="1F2937"/>
                </a:solidFill>
                <a:latin typeface="Cambria"/>
              </a:rPr>
              <a:t>3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mbria"/>
              </a:rPr>
              <a:t>then keep them fixed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40680" y="1965960"/>
            <a:ext cx="36576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9560" y="1965960"/>
            <a:ext cx="41148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2788920"/>
            <a:ext cx="233172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788920"/>
            <a:ext cx="635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8986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spc="100">
                <a:solidFill>
                  <a:srgbClr val="B08D57"/>
                </a:solidFill>
                <a:latin typeface="Cambria"/>
              </a:rPr>
              <a:t>PIPE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C9D3E0"/>
                </a:solidFill>
                <a:latin typeface="Cambria"/>
              </a:rPr>
              <a:t>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2</a:t>
            </a:r>
            <a:r>
              <a:rPr sz="1250" b="0" i="1">
                <a:solidFill>
                  <a:srgbClr val="C9D3E0"/>
                </a:solidFill>
                <a:latin typeface="Cambria"/>
              </a:rPr>
              <a:t> and 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3</a:t>
            </a:r>
            <a:r>
              <a:rPr sz="1250" b="0" i="1">
                <a:solidFill>
                  <a:srgbClr val="C9D3E0"/>
                </a:solidFill>
                <a:latin typeface="Cambria"/>
              </a:rPr>
              <a:t> learn</a:t>
            </a:r>
          </a:p>
          <a:p>
            <a:pPr algn="l"/>
            <a:r>
              <a:rPr sz="1250" b="0" i="1">
                <a:solidFill>
                  <a:srgbClr val="C9D3E0"/>
                </a:solidFill>
                <a:latin typeface="Cambria"/>
              </a:rPr>
              <a:t>the errors of C</a:t>
            </a:r>
            <a:r>
              <a:rPr sz="1250" b="0" i="1" baseline="-25000">
                <a:solidFill>
                  <a:srgbClr val="C9D3E0"/>
                </a:solidFill>
                <a:latin typeface="Cambria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788920"/>
            <a:ext cx="2103120" cy="1097280"/>
          </a:xfrm>
          <a:prstGeom prst="rect">
            <a:avLst/>
          </a:prstGeom>
          <a:solidFill>
            <a:srgbClr val="F6F3EC"/>
          </a:solidFill>
          <a:ln w="1270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47288" y="2788920"/>
            <a:ext cx="188366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mbria"/>
              </a:rPr>
              <a:t>Output of C</a:t>
            </a:r>
            <a:r>
              <a:rPr sz="1400" b="1" i="0" baseline="-25000">
                <a:solidFill>
                  <a:srgbClr val="1F2937"/>
                </a:solidFill>
                <a:latin typeface="Cambria"/>
              </a:rPr>
              <a:t>1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mbria"/>
              </a:rPr>
              <a:t>including its errors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788920"/>
            <a:ext cx="2103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16168" y="2788920"/>
            <a:ext cx="188366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mbria"/>
              </a:rPr>
              <a:t>Train C</a:t>
            </a:r>
            <a:r>
              <a:rPr sz="1400" b="1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400" b="1" i="0">
                <a:solidFill>
                  <a:srgbClr val="1F2937"/>
                </a:solidFill>
                <a:latin typeface="Cambria"/>
              </a:rPr>
              <a:t> and C</a:t>
            </a:r>
            <a:r>
              <a:rPr sz="1400" b="1" i="0" baseline="-25000">
                <a:solidFill>
                  <a:srgbClr val="1F2937"/>
                </a:solidFill>
                <a:latin typeface="Cambria"/>
              </a:rPr>
              <a:t>3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mbria"/>
              </a:rPr>
              <a:t>then keep them fixed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40680" y="3337560"/>
            <a:ext cx="36576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09560" y="3337560"/>
            <a:ext cx="411480" cy="0"/>
          </a:xfrm>
          <a:prstGeom prst="line">
            <a:avLst/>
          </a:prstGeom>
          <a:ln w="22225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321040" y="1417320"/>
            <a:ext cx="3184855" cy="24688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21040" y="1417320"/>
            <a:ext cx="3184855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1600200"/>
            <a:ext cx="272765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TEST AFTER EACH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011680"/>
            <a:ext cx="2727655" cy="124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endParaRPr lang="en-US" sz="1500" b="0" i="0" dirty="0">
              <a:solidFill>
                <a:srgbClr val="FFFFFF"/>
              </a:solidFill>
              <a:latin typeface="Cambria"/>
            </a:endParaRPr>
          </a:p>
          <a:p>
            <a:pPr algn="l">
              <a:lnSpc>
                <a:spcPct val="110000"/>
              </a:lnSpc>
            </a:pPr>
            <a:r>
              <a:rPr sz="1500" b="0" i="0" dirty="0">
                <a:solidFill>
                  <a:srgbClr val="FFFFFF"/>
                </a:solidFill>
                <a:latin typeface="Cambria"/>
              </a:rPr>
              <a:t>Both versions of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 and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 receive the output of the same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′ on the same test scenes. Only the training differs.</a:t>
            </a:r>
          </a:p>
          <a:p>
            <a:pPr algn="l">
              <a:lnSpc>
                <a:spcPct val="110000"/>
              </a:lnSpc>
            </a:pPr>
            <a:r>
              <a:rPr sz="1500" b="0" i="0" dirty="0">
                <a:solidFill>
                  <a:srgbClr val="FFFFFF"/>
                </a:solidFill>
                <a:latin typeface="Cambria"/>
              </a:rPr>
              <a:t>We also retrain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 and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 on the output of 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dirty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0" i="0" dirty="0">
                <a:solidFill>
                  <a:srgbClr val="FFFFFF"/>
                </a:solidFill>
                <a:latin typeface="Cambria"/>
              </a:rPr>
              <a:t>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160520"/>
            <a:ext cx="10820095" cy="196596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4160520"/>
            <a:ext cx="76200" cy="19659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2976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50">
                <a:solidFill>
                  <a:srgbClr val="B08D57"/>
                </a:solidFill>
                <a:latin typeface="Cambria"/>
              </a:rPr>
              <a:t>HOW WE READ THE 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7091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mbria"/>
              </a:rPr>
              <a:t>The error increases only after pipe training.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7091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08D57"/>
                </a:solidFill>
                <a:latin typeface="Cambria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709160"/>
            <a:ext cx="505937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0B2545"/>
                </a:solidFill>
                <a:latin typeface="Cambria"/>
              </a:rPr>
              <a:t>The increase comes from the adaptation of 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 and 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 to the errors of 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600" b="0" i="0">
                <a:solidFill>
                  <a:srgbClr val="0B2545"/>
                </a:solidFill>
                <a:latin typeface="Cambria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4924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mbria"/>
              </a:rPr>
              <a:t>The error increases after both training modes.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349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08D57"/>
                </a:solidFill>
                <a:latin typeface="Cambria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349240"/>
            <a:ext cx="505937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0B2545"/>
                </a:solidFill>
                <a:latin typeface="Cambria"/>
              </a:rPr>
              <a:t>Adaptation alone does not explain the increase.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Results for RQ1: Prediction Model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3000" b="1" i="0" baseline="-2500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IV · RESULTS · RQ1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>
                <a:solidFill>
                  <a:srgbClr val="0B2545"/>
                </a:solidFill>
                <a:latin typeface="Cambria"/>
              </a:rPr>
              <a:t>We test whether the prediction error increases after an update of </a:t>
            </a:r>
            <a:r>
              <a:rPr sz="1350" b="0" i="1">
                <a:solidFill>
                  <a:srgbClr val="0B2545"/>
                </a:solidFill>
                <a:latin typeface="Cambria"/>
              </a:rPr>
              <a:t>C</a:t>
            </a:r>
            <a:r>
              <a:rPr sz="1350" b="0" i="1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350" b="0" i="1">
                <a:solidFill>
                  <a:srgbClr val="0B2545"/>
                </a:solidFill>
                <a:latin typeface="Cambria"/>
              </a:rPr>
              <a:t>.</a:t>
            </a:r>
          </a:p>
        </p:txBody>
      </p:sp>
      <p:pic>
        <p:nvPicPr>
          <p:cNvPr id="25" name="Picture 24" descr="fig_delta2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973775" cy="337989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0" y="1325880"/>
            <a:ext cx="3733495" cy="868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1325880"/>
            <a:ext cx="50800" cy="868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371600"/>
            <a:ext cx="33677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450" b="1" i="0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450" b="1" i="0">
                <a:solidFill>
                  <a:srgbClr val="0B2545"/>
                </a:solidFill>
                <a:latin typeface="Cambria"/>
              </a:rPr>
              <a:t>′ is better in all 30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37360"/>
            <a:ext cx="33677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δ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= +0.048 to +0.118 in mAP50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40"/>
            <a:ext cx="37334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B08D57"/>
                </a:solidFill>
                <a:latin typeface="Cambria"/>
              </a:rPr>
              <a:t>UPDATES WITH 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Δ</a:t>
            </a:r>
            <a:r>
              <a:rPr sz="1150" b="1" i="0" spc="120" baseline="-25000">
                <a:solidFill>
                  <a:srgbClr val="B08D57"/>
                </a:solidFill>
                <a:latin typeface="Cambria"/>
              </a:rPr>
              <a:t>2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 &gt; 0  (OF 30), PIPE TRAINING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876407"/>
              </p:ext>
            </p:extLst>
          </p:nvPr>
        </p:nvGraphicFramePr>
        <p:xfrm>
          <a:off x="7772400" y="2697480"/>
          <a:ext cx="3733495" cy="1712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7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3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LEVEL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1. Any increase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23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2. Above seed variation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11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3. Significant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72400" y="4531373"/>
            <a:ext cx="37334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4515091"/>
            <a:ext cx="336773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Randomness alone does not explain the 11 increases above seed variation.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21808"/>
            <a:ext cx="108200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5321808"/>
            <a:ext cx="76200" cy="8229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8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RESULT FOR </a:t>
            </a:r>
            <a:r>
              <a:rPr sz="1250" b="1" i="0" spc="150">
                <a:solidFill>
                  <a:srgbClr val="B08D57"/>
                </a:solidFill>
                <a:latin typeface="Cambria"/>
              </a:rPr>
              <a:t>C</a:t>
            </a:r>
            <a:r>
              <a:rPr sz="1250" b="1" i="0" spc="150" baseline="-2500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321808"/>
            <a:ext cx="83969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Entangled enhancement occurs in 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. For the initial 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with seed 0, every update increases the prediction error, by +0.049 to +0.284 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08114"/>
            <a:ext cx="38100" cy="219456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062394"/>
            <a:ext cx="58640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B2545"/>
                </a:solidFill>
                <a:latin typeface="Cambria"/>
              </a:rPr>
              <a:t>All 11 increases above the dashed line come from the initial </a:t>
            </a:r>
            <a:r>
              <a:rPr sz="1300" b="0" i="1">
                <a:solidFill>
                  <a:srgbClr val="0B2545"/>
                </a:solidFill>
                <a:latin typeface="Cambria"/>
              </a:rPr>
              <a:t>C</a:t>
            </a:r>
            <a:r>
              <a:rPr sz="1300" b="0" i="1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300" b="0" i="1">
                <a:solidFill>
                  <a:srgbClr val="0B2545"/>
                </a:solidFill>
                <a:latin typeface="Cambria"/>
              </a:rPr>
              <a:t> with seed 0 (left half).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Results for RQ1: Planning Model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3000" b="1" i="0" baseline="-2500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IV · RESULTS · RQ1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>
                <a:solidFill>
                  <a:srgbClr val="0B2545"/>
                </a:solidFill>
                <a:latin typeface="Cambria"/>
              </a:rPr>
              <a:t>We test whether the increase reaches the end of the pipeline, the planned path of C</a:t>
            </a:r>
            <a:r>
              <a:rPr sz="1350" b="0" i="1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350" b="0" i="1">
                <a:solidFill>
                  <a:srgbClr val="0B2545"/>
                </a:solidFill>
                <a:latin typeface="Cambria"/>
              </a:rPr>
              <a:t>.</a:t>
            </a:r>
          </a:p>
        </p:txBody>
      </p:sp>
      <p:pic>
        <p:nvPicPr>
          <p:cNvPr id="27" name="Picture 26" descr="fig_delta3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973775" cy="33798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325880"/>
            <a:ext cx="37334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B08D57"/>
                </a:solidFill>
                <a:latin typeface="Cambria"/>
              </a:rPr>
              <a:t>UPDATES WITH 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Δ</a:t>
            </a:r>
            <a:r>
              <a:rPr sz="1150" b="1" i="0" spc="120" baseline="-25000">
                <a:solidFill>
                  <a:srgbClr val="B08D57"/>
                </a:solidFill>
                <a:latin typeface="Cambria"/>
              </a:rPr>
              <a:t>3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 &gt; 0  (OF 30), PIPE TRAINING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11338"/>
              </p:ext>
            </p:extLst>
          </p:nvPr>
        </p:nvGraphicFramePr>
        <p:xfrm>
          <a:off x="7772400" y="1645920"/>
          <a:ext cx="3733495" cy="1712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 spc="100" dirty="0">
                          <a:solidFill>
                            <a:srgbClr val="B08D57"/>
                          </a:solidFill>
                          <a:latin typeface="Cambria"/>
                        </a:rPr>
                        <a:t>LEVEL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1. Any increase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mbria"/>
                        </a:rPr>
                        <a:t>18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2. Above seed variation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mbria"/>
                        </a:rPr>
                        <a:t>13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3. Significant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772400" y="3429000"/>
            <a:ext cx="3733495" cy="868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3429000"/>
            <a:ext cx="50800" cy="868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3502152"/>
            <a:ext cx="336773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The increase is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13048"/>
            <a:ext cx="3367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mbria"/>
              </a:rPr>
              <a:t>Largest 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Δ</a:t>
            </a:r>
            <a:r>
              <a:rPr sz="125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: 0.072 m, against a planning error of about 4 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389120"/>
            <a:ext cx="3733495" cy="868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389120"/>
            <a:ext cx="50800" cy="868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4462272"/>
            <a:ext cx="336773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The objects have a small effect on C</a:t>
            </a:r>
            <a:r>
              <a:rPr sz="1400" b="1" i="0" baseline="-25000">
                <a:solidFill>
                  <a:srgbClr val="0B2545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773168"/>
            <a:ext cx="33677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mbria"/>
              </a:rPr>
              <a:t>Removing all objects moves the plan of C</a:t>
            </a:r>
            <a:r>
              <a:rPr sz="125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250" b="0" i="0">
                <a:solidFill>
                  <a:srgbClr val="1F2937"/>
                </a:solidFill>
                <a:latin typeface="Cambria"/>
              </a:rPr>
              <a:t> by only 0.73 to 1.65 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440680"/>
            <a:ext cx="10820095" cy="777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5440680"/>
            <a:ext cx="76200" cy="7772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ANSWER TO RQ1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440680"/>
            <a:ext cx="839693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mbria"/>
              </a:rPr>
              <a:t>An update that improves 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 increases the prediction error in 23 of 30 updates, 11 beyond seed variation. The planning error increases in 18 updates, by at most 0.072 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08114"/>
            <a:ext cx="38100" cy="219456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062394"/>
            <a:ext cx="58640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B2545"/>
                </a:solidFill>
                <a:latin typeface="Cambria"/>
              </a:rPr>
              <a:t>Only 1 increase of the planning error is statistically significant (circled).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Results for RQ2: Pipe and Iso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IV · RESULTS · RQ2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>
                <a:solidFill>
                  <a:srgbClr val="0B2545"/>
                </a:solidFill>
                <a:latin typeface="Cambria"/>
              </a:rPr>
              <a:t>We compare </a:t>
            </a:r>
            <a:r>
              <a:rPr sz="1350" b="0" i="1">
                <a:solidFill>
                  <a:srgbClr val="0B2545"/>
                </a:solidFill>
                <a:latin typeface="Cambria"/>
              </a:rPr>
              <a:t>Δ</a:t>
            </a:r>
            <a:r>
              <a:rPr sz="1350" b="0" i="1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350" b="0" i="1">
                <a:solidFill>
                  <a:srgbClr val="0B2545"/>
                </a:solidFill>
                <a:latin typeface="Cambria"/>
              </a:rPr>
              <a:t> after pipe training and after iso training on the same 30 updates.</a:t>
            </a:r>
          </a:p>
        </p:txBody>
      </p:sp>
      <p:pic>
        <p:nvPicPr>
          <p:cNvPr id="25" name="Picture 24" descr="fig_delt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973775" cy="337989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0" y="1325880"/>
            <a:ext cx="3733495" cy="868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1325880"/>
            <a:ext cx="50800" cy="8686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371600"/>
            <a:ext cx="33677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B2545"/>
                </a:solidFill>
                <a:latin typeface="Cambria"/>
              </a:rPr>
              <a:t>For </a:t>
            </a:r>
            <a:r>
              <a:rPr sz="145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450" b="1" i="0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450" b="1" i="0">
                <a:solidFill>
                  <a:srgbClr val="0B2545"/>
                </a:solidFill>
                <a:latin typeface="Cambria"/>
              </a:rPr>
              <a:t>, the pattern is reversed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37360"/>
            <a:ext cx="33677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Δ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&gt; 0 in 29 of 30 updates after iso training, 18 after 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40"/>
            <a:ext cx="3733495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120">
                <a:solidFill>
                  <a:srgbClr val="B08D57"/>
                </a:solidFill>
                <a:latin typeface="Cambria"/>
              </a:rPr>
              <a:t>UPDATES WITH 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Δ</a:t>
            </a:r>
            <a:r>
              <a:rPr sz="1150" b="1" i="0" spc="120" baseline="-25000">
                <a:solidFill>
                  <a:srgbClr val="B08D57"/>
                </a:solidFill>
                <a:latin typeface="Cambria"/>
              </a:rPr>
              <a:t>2</a:t>
            </a:r>
            <a:r>
              <a:rPr sz="1150" b="1" i="0" spc="120">
                <a:solidFill>
                  <a:srgbClr val="B08D57"/>
                </a:solidFill>
                <a:latin typeface="Cambria"/>
              </a:rPr>
              <a:t> &gt; 0  (OF 30)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876407"/>
              </p:ext>
            </p:extLst>
          </p:nvPr>
        </p:nvGraphicFramePr>
        <p:xfrm>
          <a:off x="7772400" y="2697480"/>
          <a:ext cx="3733495" cy="1712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7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LEVEL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ISO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1. Any increase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23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2. Above seed variation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11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7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B2545"/>
                          </a:solidFill>
                          <a:latin typeface="Cambria"/>
                        </a:rPr>
                        <a:t>3. Significant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>
                          <a:solidFill>
                            <a:srgbClr val="1F2937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72400" y="4531373"/>
            <a:ext cx="37334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4515091"/>
            <a:ext cx="336773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Δ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is larger after pipe training than after iso training in </a:t>
            </a:r>
            <a:r>
              <a:rPr sz="1350" b="1" i="0">
                <a:solidFill>
                  <a:srgbClr val="1F2937"/>
                </a:solidFill>
                <a:latin typeface="Cambria"/>
              </a:rPr>
              <a:t>30 of 30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updates.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21808"/>
            <a:ext cx="108200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5321808"/>
            <a:ext cx="76200" cy="8229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8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RESULT FOR </a:t>
            </a:r>
            <a:r>
              <a:rPr sz="1250" b="1" i="0" spc="150">
                <a:solidFill>
                  <a:srgbClr val="B08D57"/>
                </a:solidFill>
                <a:latin typeface="Cambria"/>
              </a:rPr>
              <a:t>C</a:t>
            </a:r>
            <a:r>
              <a:rPr sz="1250" b="1" i="0" spc="150" baseline="-2500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321808"/>
            <a:ext cx="83969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mbria"/>
              </a:rPr>
              <a:t>The increases above seed variation appear only after pipe training. The increase comes from the adaptation of 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 to the errors of 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0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08114"/>
            <a:ext cx="38100" cy="219456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062394"/>
            <a:ext cx="58640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B2545"/>
                </a:solidFill>
                <a:latin typeface="Cambria"/>
              </a:rPr>
              <a:t>Navy dots (pipe training) lie above gold diamonds (iso training) in every 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Results for RQ2: Retraining on the Output of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30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IV · RESULTS · RQ2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14</a:t>
            </a:r>
          </a:p>
        </p:txBody>
      </p:sp>
      <p:pic>
        <p:nvPicPr>
          <p:cNvPr id="28" name="Picture 27" descr="fig_re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7315200" cy="34791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325880"/>
            <a:ext cx="3230575" cy="10972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75320" y="1325880"/>
            <a:ext cx="508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417320"/>
            <a:ext cx="28648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WHAT WE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09928"/>
            <a:ext cx="28648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We retrain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on the output of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′. We test one update of each initial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560320"/>
            <a:ext cx="3230575" cy="10972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2560320"/>
            <a:ext cx="508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8648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CHANGE IN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44368"/>
            <a:ext cx="28648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Prediction error: −0.36 m and −0.16 m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Planning error: −0.44 m and −0.30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3794760"/>
            <a:ext cx="3230575" cy="10972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794760"/>
            <a:ext cx="50800" cy="10972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3886200"/>
            <a:ext cx="28648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50">
                <a:solidFill>
                  <a:srgbClr val="B08D57"/>
                </a:solidFill>
                <a:latin typeface="Cambria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178808"/>
            <a:ext cx="28648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Both errors fall below their values before the update of 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321808"/>
            <a:ext cx="1082009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5321808"/>
            <a:ext cx="76200" cy="82296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21808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50">
                <a:solidFill>
                  <a:srgbClr val="B08D57"/>
                </a:solidFill>
                <a:latin typeface="Cambria"/>
              </a:rPr>
              <a:t>ANSWER TO RQ2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321808"/>
            <a:ext cx="83969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mbria"/>
              </a:rPr>
              <a:t>Yes, for 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. The increase appears only after pipe training. Retraining on the output of 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′ removes the increase. Adaptation does not explain the small increase of 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C</a:t>
            </a:r>
            <a:r>
              <a:rPr sz="1450" b="0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450" b="0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841636"/>
            <a:ext cx="38100" cy="219456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795916"/>
            <a:ext cx="72054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B2545"/>
                </a:solidFill>
                <a:latin typeface="Cambria"/>
              </a:rPr>
              <a:t>In every group, the navy bar (C</a:t>
            </a:r>
            <a:r>
              <a:rPr sz="1300" b="0" i="1" baseline="-25000">
                <a:solidFill>
                  <a:srgbClr val="0B2545"/>
                </a:solidFill>
                <a:latin typeface="Cambria"/>
              </a:rPr>
              <a:t>2</a:t>
            </a:r>
            <a:r>
              <a:rPr sz="1300" b="0" i="1">
                <a:solidFill>
                  <a:srgbClr val="0B2545"/>
                </a:solidFill>
                <a:latin typeface="Cambria"/>
              </a:rPr>
              <a:t> and C</a:t>
            </a:r>
            <a:r>
              <a:rPr sz="1300" b="0" i="1" baseline="-25000">
                <a:solidFill>
                  <a:srgbClr val="0B2545"/>
                </a:solidFill>
                <a:latin typeface="Cambria"/>
              </a:rPr>
              <a:t>3</a:t>
            </a:r>
            <a:r>
              <a:rPr sz="1300" b="0" i="1">
                <a:solidFill>
                  <a:srgbClr val="0B2545"/>
                </a:solidFill>
                <a:latin typeface="Cambria"/>
              </a:rPr>
              <a:t> retrained on the output of C</a:t>
            </a:r>
            <a:r>
              <a:rPr sz="1300" b="0" i="1" baseline="-25000">
                <a:solidFill>
                  <a:srgbClr val="0B2545"/>
                </a:solidFill>
                <a:latin typeface="Cambria"/>
              </a:rPr>
              <a:t>1</a:t>
            </a:r>
            <a:r>
              <a:rPr sz="1300" b="0" i="1">
                <a:solidFill>
                  <a:srgbClr val="0B2545"/>
                </a:solidFill>
                <a:latin typeface="Cambria"/>
              </a:rPr>
              <a:t>′) is the lowest.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V ·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820095" cy="96012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6200" cy="9601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271455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mbria"/>
              </a:rPr>
              <a:t>In this study, we investigated entangled enhancement in a real autonomous driving pipeline of three ML models. We updated the perception model 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 30 times. To find the cause, we compared two training modes of 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6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600" b="0" i="0">
                <a:solidFill>
                  <a:srgbClr val="1F2937"/>
                </a:solidFill>
                <a:latin typeface="Cambria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210312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20">
                <a:solidFill>
                  <a:srgbClr val="B08D57"/>
                </a:solidFill>
                <a:latin typeface="Cambria"/>
              </a:rPr>
              <a:t>RQ1 · OCCURRENCE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560320"/>
            <a:ext cx="87169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560320"/>
            <a:ext cx="643097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An update that improves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increases the prediction error of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in 23 of 30 updates, 11 above seed variation. The planning error of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increases by at most 0.072 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31375" y="2857500"/>
            <a:ext cx="1737360" cy="685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31375" y="28575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 spc="100">
                <a:solidFill>
                  <a:srgbClr val="FFFFFF"/>
                </a:solidFill>
                <a:latin typeface="Cambria"/>
              </a:rPr>
              <a:t>ENTANGLED</a:t>
            </a:r>
          </a:p>
          <a:p>
            <a:pPr algn="ctr"/>
            <a:r>
              <a:rPr sz="1150" b="1" i="0" spc="100">
                <a:solidFill>
                  <a:srgbClr val="FFFFFF"/>
                </a:solidFill>
                <a:latin typeface="Cambria"/>
              </a:rPr>
              <a:t>ENHANCEMENT IN </a:t>
            </a:r>
            <a:r>
              <a:rPr sz="1150" b="1" i="0" spc="100">
                <a:solidFill>
                  <a:srgbClr val="FFFFFF"/>
                </a:solidFill>
                <a:latin typeface="Cambria"/>
              </a:rPr>
              <a:t>C</a:t>
            </a:r>
            <a:r>
              <a:rPr sz="1150" b="1" i="0" spc="100" baseline="-2500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23360"/>
            <a:ext cx="2103120" cy="12801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120">
                <a:solidFill>
                  <a:srgbClr val="B08D57"/>
                </a:solidFill>
                <a:latin typeface="Cambria"/>
              </a:rPr>
              <a:t>RQ2 · 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4023360"/>
            <a:ext cx="87169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4023360"/>
            <a:ext cx="6430975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mbria"/>
              </a:rPr>
              <a:t>The increase in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comes from the adaptation of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to the errors of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. The increase appears only after pipe training. Retraining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and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 on the output of 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′ lowers both errors.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1375" y="4320540"/>
            <a:ext cx="1737360" cy="685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31375" y="432054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 spc="100">
                <a:solidFill>
                  <a:srgbClr val="FFFFFF"/>
                </a:solidFill>
                <a:latin typeface="Cambria"/>
              </a:rPr>
              <a:t>CAUSE:</a:t>
            </a:r>
          </a:p>
          <a:p>
            <a:pPr algn="ctr"/>
            <a:r>
              <a:rPr sz="1150" b="1" i="0" spc="100">
                <a:solidFill>
                  <a:srgbClr val="FFFFFF"/>
                </a:solidFill>
                <a:latin typeface="Cambria"/>
              </a:rPr>
              <a:t>ADAPTATION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V ·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10820095" cy="18288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76200" cy="1828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554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00">
                <a:solidFill>
                  <a:srgbClr val="B08D57"/>
                </a:solidFill>
                <a:latin typeface="Cambria"/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74520"/>
            <a:ext cx="100885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Early detection of entangled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77440"/>
            <a:ext cx="1008857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C9D3E0"/>
                </a:solidFill>
                <a:latin typeface="Cambria"/>
              </a:rPr>
              <a:t>We are developing a method that detects entangled enhancement before </a:t>
            </a:r>
            <a:r>
              <a:rPr sz="1550" b="0" i="0">
                <a:solidFill>
                  <a:srgbClr val="C9D3E0"/>
                </a:solidFill>
                <a:latin typeface="Cambria"/>
              </a:rPr>
              <a:t>C</a:t>
            </a:r>
            <a:r>
              <a:rPr sz="1550" b="0" i="0" baseline="-25000">
                <a:solidFill>
                  <a:srgbClr val="C9D3E0"/>
                </a:solidFill>
                <a:latin typeface="Cambria"/>
              </a:rPr>
              <a:t>1</a:t>
            </a:r>
            <a:r>
              <a:rPr sz="1550" b="0" i="0">
                <a:solidFill>
                  <a:srgbClr val="C9D3E0"/>
                </a:solidFill>
                <a:latin typeface="Cambria"/>
              </a:rPr>
              <a:t>′ is deployed, and before ground truth for the new data exists.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3423818" cy="2011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3423818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7947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94760"/>
            <a:ext cx="24179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More test scenes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296661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With 50 test scenes, only 3 of 30 increases are statistically significant. More scenes give narrower intervals.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3938" y="3520440"/>
            <a:ext cx="3423818" cy="2011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3938" y="3520440"/>
            <a:ext cx="3423818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12538" y="37947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2538" y="3794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6898" y="3794760"/>
            <a:ext cx="24179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More initial </a:t>
            </a:r>
            <a:r>
              <a:rPr sz="1700" b="1" i="0">
                <a:solidFill>
                  <a:srgbClr val="0B2545"/>
                </a:solidFill>
                <a:latin typeface="Cambria"/>
              </a:rPr>
              <a:t>C</a:t>
            </a:r>
            <a:r>
              <a:rPr sz="1700" b="1" i="0" baseline="-25000">
                <a:solidFill>
                  <a:srgbClr val="0B2545"/>
                </a:solidFill>
                <a:latin typeface="Cambria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2538" y="4434840"/>
            <a:ext cx="296661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All 11 increases above seed variation come from one initial 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. More initial 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C</a:t>
            </a:r>
            <a:r>
              <a:rPr sz="14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400" b="0" i="0">
                <a:solidFill>
                  <a:srgbClr val="1F2937"/>
                </a:solidFill>
                <a:latin typeface="Cambria"/>
              </a:rPr>
              <a:t> show how often this case occurs.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3520440"/>
            <a:ext cx="3423818" cy="201168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82076" y="3520440"/>
            <a:ext cx="3423818" cy="508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10676" y="37947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10676" y="3794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B08D57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5036" y="3794760"/>
            <a:ext cx="24179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mbria"/>
              </a:rPr>
              <a:t>Input to retraining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676" y="4434840"/>
            <a:ext cx="296661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mbria"/>
              </a:rPr>
              <a:t>The measured frequency of entangled enhancement can serve as the probability in the models of Wang and Machida.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V ·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820095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[1]  Z. Wang and F. Machida, "Maintaining performance of a machine learning system against imperfect retraining," in Proc. IEEE COMPSAC, 2024, pp. 1782–1787.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[2]  Z. Wang and F. Machida, "Exploiting the availability-continuity trade-off in imperfect retraining of machine learning systems," in Proc. IEEE ISSRE, 2025, pp. 406–417.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[3]  D. Sculley et al., "Hidden technical debt in machine learning systems," in Proc. NIPS, 2015, pp. 2503–2511.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[4]  R. Wu, C. Guo, A. Hannun, and L. van der Maaten, "Fixes that fail: Self-defeating improvements in machine-learning systems," in Proc. NeurIPS, 2021, pp. 11745–11756.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[5]  Y. Xu et al., "Towards motion forecasting with real-world perception inputs: Are end-to-end approaches competitive?," in Proc. IEEE ICRA, 2024, pp. 18428–18435.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[6]  H. Caesar et al., "nuScenes: A multimodal dataset for autonomous driving," in Proc. IEEE/CVF CVPR, 2020.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[7]  G. Jocher and J. Qiu, "Ultralytics YOLO11," https://github.com/ultralytics/ultralytics, 2024.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[8]  R. Girgis et al., "Latent variable sequential set transformers for joint multi-agent motion prediction," in Proc. ICLR, 2022.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[9]  K. Renz et al., "PlanT: Explainable planning transformers via object-level representations," in Proc. CoRL, 2022.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[10]  J.-T. Zhai et al., "Rethinking the open-loop evaluation of end-to-end autonomous driving in nuScenes," arXiv:2305.10430, 2023.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mbria"/>
              </a:rPr>
              <a:t>[11]  Z. Li et al., "Is ego status all you need for open-loop end-to-end autonomous driving?," in Proc. IEEE/CVF CVPR, 2024.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270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" y="393192"/>
            <a:ext cx="11405311" cy="6071616"/>
          </a:xfrm>
          <a:prstGeom prst="rect">
            <a:avLst/>
          </a:prstGeom>
          <a:noFill/>
          <a:ln w="6350">
            <a:solidFill>
              <a:srgbClr val="B0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3299206"/>
            <a:ext cx="1709928" cy="127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4719" y="3299206"/>
            <a:ext cx="1709928" cy="127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amond 7"/>
          <p:cNvSpPr/>
          <p:nvPr/>
        </p:nvSpPr>
        <p:spPr>
          <a:xfrm>
            <a:off x="6036411" y="3246120"/>
            <a:ext cx="118872" cy="118872"/>
          </a:xfrm>
          <a:prstGeom prst="diamond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1">
                <a:solidFill>
                  <a:srgbClr val="C9D3E0"/>
                </a:solidFill>
                <a:latin typeface="Cambria"/>
              </a:rPr>
              <a:t>Questions and comments are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spc="100">
                <a:solidFill>
                  <a:srgbClr val="B08D57"/>
                </a:solidFill>
                <a:latin typeface="Cambria"/>
              </a:rPr>
              <a:t>Rashedul Arefin Ifty  ·  Dependable AI Systems Laboratory  ·  University of Tsukuba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Appendix A: Updates of Initial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30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, Seed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385175"/>
              </p:ext>
            </p:extLst>
          </p:nvPr>
        </p:nvGraphicFramePr>
        <p:xfrm>
          <a:off x="685800" y="1280160"/>
          <a:ext cx="10820092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#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DATA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EPOCHS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SEED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2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2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ISO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3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 dirty="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dirty="0" baseline="-25000">
                          <a:solidFill>
                            <a:srgbClr val="B08D57"/>
                          </a:solidFill>
                          <a:latin typeface="Cambria"/>
                        </a:rPr>
                        <a:t>3</a:t>
                      </a:r>
                      <a:r>
                        <a:rPr sz="1100" b="1" i="0" spc="100" dirty="0">
                          <a:solidFill>
                            <a:srgbClr val="B08D57"/>
                          </a:solidFill>
                          <a:latin typeface="Cambria"/>
                        </a:rPr>
                        <a:t>  ISO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+0.049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−0.141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−0.027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+0.035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+0.096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−0.212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+0.026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+0.067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+0.139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−0.060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+0.078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+0.184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+0.021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−0.012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+0.081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+0.192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+0.031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+0.063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+0.098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−0.154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+0.040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+0.127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+0.064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+0.233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−0.058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−0.030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+0.059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+0.284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+0.082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−0.042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+0.071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+0.157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−0.141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−0.046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+0.034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+0.094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+0.182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−0.073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−0.024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+0.052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+0.284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+0.001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−0.006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+0.040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+0.266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+0.093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−0.042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+0.033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−0.079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0.000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+0.051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+0.080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+0.127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−0.051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+0.025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+0.059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+0.115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−0.085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+0.001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8B2E2E"/>
                          </a:solidFill>
                          <a:latin typeface="Cambria"/>
                        </a:rPr>
                        <a:t>+0.056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133281"/>
            <a:ext cx="10820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mbria"/>
              </a:rPr>
              <a:t>Changes in meters after the update.  Shaded: larger than seed variation (0.112 m for 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Δ</a:t>
            </a:r>
            <a:r>
              <a:rPr sz="1100" b="0" i="1" dirty="0" baseline="-25000">
                <a:solidFill>
                  <a:srgbClr val="6B7280"/>
                </a:solidFill>
                <a:latin typeface="Cambria"/>
              </a:rPr>
              <a:t>2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, 0.018 m for 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Δ</a:t>
            </a:r>
            <a:r>
              <a:rPr sz="1100" b="0" i="1" dirty="0" baseline="-25000">
                <a:solidFill>
                  <a:srgbClr val="6B7280"/>
                </a:solidFill>
                <a:latin typeface="Cambria"/>
              </a:rPr>
              <a:t>3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).  * Statistically significant.  Data: share of Singapore 1 used for the update.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Appendix B: Updates of Initial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30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, Seed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83005"/>
              </p:ext>
            </p:extLst>
          </p:nvPr>
        </p:nvGraphicFramePr>
        <p:xfrm>
          <a:off x="685800" y="1280160"/>
          <a:ext cx="10820092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87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#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DATA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EPOCHS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SEED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2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2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ISO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baseline="-25000">
                          <a:solidFill>
                            <a:srgbClr val="B08D57"/>
                          </a:solidFill>
                          <a:latin typeface="Cambria"/>
                        </a:rPr>
                        <a:t>3</a:t>
                      </a:r>
                      <a:r>
                        <a:rPr sz="1100" b="1" i="0" spc="100">
                          <a:solidFill>
                            <a:srgbClr val="B08D57"/>
                          </a:solidFill>
                          <a:latin typeface="Cambria"/>
                        </a:rPr>
                        <a:t>  PIPE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100" dirty="0">
                          <a:solidFill>
                            <a:srgbClr val="B08D57"/>
                          </a:solidFill>
                          <a:latin typeface="Cambria"/>
                        </a:rPr>
                        <a:t>Δ</a:t>
                      </a:r>
                      <a:r>
                        <a:rPr sz="1100" b="1" i="0" spc="100" dirty="0" baseline="-25000">
                          <a:solidFill>
                            <a:srgbClr val="B08D57"/>
                          </a:solidFill>
                          <a:latin typeface="Cambria"/>
                        </a:rPr>
                        <a:t>3</a:t>
                      </a:r>
                      <a:r>
                        <a:rPr sz="1100" b="1" i="0" spc="100" dirty="0">
                          <a:solidFill>
                            <a:srgbClr val="B08D57"/>
                          </a:solidFill>
                          <a:latin typeface="Cambria"/>
                        </a:rPr>
                        <a:t>  ISO</a:t>
                      </a:r>
                    </a:p>
                  </a:txBody>
                  <a:tcPr marL="137160" marR="137160" marT="54864" marB="54864"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16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−0.054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−0.170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−0.001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8B2E2E"/>
                          </a:solidFill>
                          <a:latin typeface="Cambria"/>
                        </a:rPr>
                        <a:t>+0.021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17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−0.081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−0.156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+0.026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+0.073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−0.187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−0.280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+0.023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+0.026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19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−0.030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−0.115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+0.072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+0.084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+0.067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−0.135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−0.152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+0.054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+0.088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−0.089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−0.141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+0.037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+0.070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+0.048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+0.090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−0.059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−0.001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+0.029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+0.078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+0.081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−0.095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−0.042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−0.004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24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25 %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+0.082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−0.111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+0.010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+0.022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+0.086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−0.025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−0.267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+0.033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+0.068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26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+0.118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+0.040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−0.094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+0.003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8B2E2E"/>
                          </a:solidFill>
                          <a:latin typeface="Cambria"/>
                        </a:rPr>
                        <a:t>+0.064 </a:t>
                      </a:r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*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27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+0.115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+0.052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−0.107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+0.015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+0.050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+0.102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+0.003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−0.094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+0.049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+0.047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29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+0.071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+0.065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−0.029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+0.021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8B2E2E"/>
                          </a:solidFill>
                          <a:latin typeface="Cambria"/>
                        </a:rPr>
                        <a:t>+0.022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2545"/>
                          </a:solidFill>
                          <a:latin typeface="Cambria"/>
                        </a:rPr>
                        <a:t>30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100 %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20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+0.071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+0.073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−0.025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7"/>
                          </a:solidFill>
                          <a:latin typeface="Cambria"/>
                        </a:rPr>
                        <a:t>+0.018</a:t>
                      </a:r>
                    </a:p>
                  </a:txBody>
                  <a:tcPr marL="137160" marR="137160" marT="54864" marB="54864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8B2E2E"/>
                          </a:solidFill>
                          <a:latin typeface="Cambria"/>
                        </a:rPr>
                        <a:t>+0.049</a:t>
                      </a:r>
                    </a:p>
                  </a:txBody>
                  <a:tcPr marL="137160" marR="137160" marT="54864" marB="54864" anchor="ctr">
                    <a:solidFill>
                      <a:srgbClr val="F3E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B728D99-21A2-9DC6-C96D-862AB091E407}"/>
              </a:ext>
            </a:extLst>
          </p:cNvPr>
          <p:cNvSpPr txBox="1"/>
          <p:nvPr/>
        </p:nvSpPr>
        <p:spPr>
          <a:xfrm>
            <a:off x="685800" y="6133281"/>
            <a:ext cx="1082009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mbria"/>
              </a:rPr>
              <a:t>Changes in meters after the update.  Shaded: larger than seed variation (0.112 m for 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Δ</a:t>
            </a:r>
            <a:r>
              <a:rPr sz="1100" b="0" i="1" dirty="0" baseline="-25000">
                <a:solidFill>
                  <a:srgbClr val="6B7280"/>
                </a:solidFill>
                <a:latin typeface="Cambria"/>
              </a:rPr>
              <a:t>2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, 0.018 m for 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Δ</a:t>
            </a:r>
            <a:r>
              <a:rPr sz="1100" b="0" i="1" dirty="0" baseline="-25000">
                <a:solidFill>
                  <a:srgbClr val="6B7280"/>
                </a:solidFill>
                <a:latin typeface="Cambria"/>
              </a:rPr>
              <a:t>3</a:t>
            </a:r>
            <a:r>
              <a:rPr sz="1100" b="0" i="1" dirty="0">
                <a:solidFill>
                  <a:srgbClr val="6B7280"/>
                </a:solidFill>
                <a:latin typeface="Cambria"/>
              </a:rPr>
              <a:t>).  * Statistically significant.  Data: share of Singapore 1 used for the update.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0"/>
            <a:ext cx="8686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Appendix C: Details of the 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495" y="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 spc="200">
                <a:solidFill>
                  <a:srgbClr val="B08D57"/>
                </a:solidFill>
                <a:latin typeface="Cambria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mbria"/>
              </a:rPr>
              <a:t>An Empirical Analysis of Entangled Enhancement in an Autonomous Driving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46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>
                <a:solidFill>
                  <a:srgbClr val="0B2545"/>
                </a:solidFill>
                <a:latin typeface="Cambria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42381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3423818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258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1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Perception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310377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YOLOv11n object detector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Input: front-camera image, 640 pixels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Trained 10 epochs on Boston 1, batch size 8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Last checkpoint used; the test scenes never select a model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mAP50 on the test scenes: 0.109 (seed 0), 0.117 (seed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3938" y="1325880"/>
            <a:ext cx="342381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3938" y="1325880"/>
            <a:ext cx="3423818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6818" y="13258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2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Prediction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1920240"/>
            <a:ext cx="310377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AutoBot-Ego style transformer, centred on each target object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Input: detections in the last four labelled images, relative to the target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2 encoder and 2 decoder layers, 128 features, 4 attention heads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Output: six possible paths of 3 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Same object across images found by attention, without a separate matching step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736,799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076" y="1325880"/>
            <a:ext cx="342381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2076" y="1325880"/>
            <a:ext cx="3423818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4956" y="13258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</a:t>
            </a:r>
            <a:r>
              <a:rPr sz="1500" b="1" i="0" baseline="-25000">
                <a:solidFill>
                  <a:srgbClr val="FFFFFF"/>
                </a:solidFill>
                <a:latin typeface="Cambria"/>
              </a:rPr>
              <a:t>3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 · Planning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4956" y="1920240"/>
            <a:ext cx="3103778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PlanT style transformer, one input token per object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Object token: position, most likely path from C</a:t>
            </a:r>
            <a:r>
              <a:rPr sz="135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50" b="0" i="0">
                <a:solidFill>
                  <a:srgbClr val="1F2937"/>
                </a:solidFill>
                <a:latin typeface="Cambria"/>
              </a:rPr>
              <a:t>, class, confidence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Further tokens: driving command and ego path of the last 1.5 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4 layers, 128 features, 4 attention heads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Recurrent decoder: six points of the planned path, 0.5 s apart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mbria"/>
              </a:rPr>
              <a:t>•  636,930 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20640"/>
            <a:ext cx="10820095" cy="9144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5120640"/>
            <a:ext cx="76200" cy="9144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B08D57"/>
                </a:solidFill>
                <a:latin typeface="Cambria"/>
              </a:rPr>
              <a:t>TRAINING OF</a:t>
            </a:r>
          </a:p>
          <a:p>
            <a:pPr algn="l"/>
            <a:r>
              <a:rPr sz="1200" b="1" i="0" spc="120">
                <a:solidFill>
                  <a:srgbClr val="B08D57"/>
                </a:solidFill>
                <a:latin typeface="Cambria"/>
              </a:rPr>
              <a:t>C</a:t>
            </a:r>
            <a:r>
              <a:rPr sz="1200" b="1" i="0" spc="120" baseline="-25000">
                <a:solidFill>
                  <a:srgbClr val="B08D57"/>
                </a:solidFill>
                <a:latin typeface="Cambria"/>
              </a:rPr>
              <a:t>2</a:t>
            </a:r>
            <a:r>
              <a:rPr sz="1200" b="1" i="0" spc="120">
                <a:solidFill>
                  <a:srgbClr val="B08D57"/>
                </a:solidFill>
                <a:latin typeface="Cambria"/>
              </a:rPr>
              <a:t> AND C</a:t>
            </a:r>
            <a:r>
              <a:rPr sz="1200" b="1" i="0" spc="120" baseline="-25000">
                <a:solidFill>
                  <a:srgbClr val="B08D57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120640"/>
            <a:ext cx="844265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mbria"/>
              </a:rPr>
              <a:t>Boston 2: 86 training and 14 validation scenes. Early stopping on the validation scenes (patience 8 epochs for 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, 10 for 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3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). Mirror and rotation (±10°) augmentation. The error of 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2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uses the objects of C</a:t>
            </a:r>
            <a:r>
              <a:rPr sz="1300" b="0" i="0" baseline="-25000">
                <a:solidFill>
                  <a:srgbClr val="1F2937"/>
                </a:solidFill>
                <a:latin typeface="Cambria"/>
              </a:rPr>
              <a:t>1</a:t>
            </a:r>
            <a:r>
              <a:rPr sz="1300" b="0" i="0">
                <a:solidFill>
                  <a:srgbClr val="1F2937"/>
                </a:solidFill>
                <a:latin typeface="Cambria"/>
              </a:rPr>
              <a:t> matched one to one with a ground-truth object of the same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3591</Words>
  <Application>Microsoft Macintosh PowerPoint</Application>
  <PresentationFormat>Widescreen</PresentationFormat>
  <Paragraphs>706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Rashedul Arefin Ifty</cp:lastModifiedBy>
  <cp:revision>19</cp:revision>
  <dcterms:created xsi:type="dcterms:W3CDTF">2013-01-27T09:14:16Z</dcterms:created>
  <dcterms:modified xsi:type="dcterms:W3CDTF">2026-10-14T03:40:03Z</dcterms:modified>
  <cp:category/>
</cp:coreProperties>
</file>