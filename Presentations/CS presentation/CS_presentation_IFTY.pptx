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 snapToObjects="1">
      <p:cViewPr>
        <p:scale>
          <a:sx n="125" d="100"/>
          <a:sy n="125" d="100"/>
        </p:scale>
        <p:origin x="6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" y="393192"/>
            <a:ext cx="11405311" cy="6071616"/>
          </a:xfrm>
          <a:prstGeom prst="rect">
            <a:avLst/>
          </a:prstGeom>
          <a:noFill/>
          <a:ln w="63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777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300">
                <a:solidFill>
                  <a:srgbClr val="B08D57"/>
                </a:solidFill>
                <a:latin typeface="Cambria"/>
              </a:rPr>
              <a:t>0ALD515  ·  RESEARCH IN COMPUTER SCIENCE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11535" cy="1508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An Empirical Analysis of Entangled Enhancement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in an Autonomous Driving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8407" y="2887726"/>
            <a:ext cx="225856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4719" y="2887726"/>
            <a:ext cx="225856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Diamond 8"/>
          <p:cNvSpPr/>
          <p:nvPr/>
        </p:nvSpPr>
        <p:spPr>
          <a:xfrm>
            <a:off x="6036411" y="2834640"/>
            <a:ext cx="118872" cy="118872"/>
          </a:xfrm>
          <a:prstGeom prst="diamond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9497" y="3337560"/>
            <a:ext cx="12700" cy="2011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2367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 i="0" spc="200">
                <a:solidFill>
                  <a:srgbClr val="B08D57"/>
                </a:solidFill>
                <a:latin typeface="Cambria"/>
              </a:rPr>
              <a:t>PRESENTER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2367" y="3628382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en-US" sz="2400" b="0" i="0" dirty="0">
                <a:solidFill>
                  <a:srgbClr val="FFFFFF"/>
                </a:solidFill>
                <a:latin typeface="Cambria"/>
              </a:rPr>
              <a:t>Ifty </a:t>
            </a:r>
            <a:r>
              <a:rPr sz="2400" b="0" i="0" dirty="0">
                <a:solidFill>
                  <a:srgbClr val="FFFFFF"/>
                </a:solidFill>
                <a:latin typeface="Cambria"/>
              </a:rPr>
              <a:t>Rashedul Arefin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367" y="4069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0" i="0">
                <a:solidFill>
                  <a:srgbClr val="C9D3E0"/>
                </a:solidFill>
                <a:latin typeface="Cambria"/>
              </a:rPr>
              <a:t>Student ID: 202620721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367" y="44348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理工情報生命学術院</a:t>
            </a:r>
          </a:p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システム情報工学研究群</a:t>
            </a:r>
          </a:p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情報理工学位プログラム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B08D57"/>
                </a:solidFill>
                <a:latin typeface="Cambria"/>
              </a:rPr>
              <a:t>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584448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mbria"/>
              </a:rPr>
              <a:t>Fumio Machida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4069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C9D3E0"/>
                </a:solidFill>
                <a:latin typeface="Cambria"/>
              </a:rPr>
              <a:t>Associate Professor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434840"/>
            <a:ext cx="45720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C9D3E0"/>
                </a:solidFill>
                <a:latin typeface="Cambria"/>
              </a:rPr>
              <a:t>Department of Systems and Information Engineering</a:t>
            </a:r>
            <a:br>
              <a:rPr lang="en-US" sz="1300" b="0" i="0" dirty="0">
                <a:solidFill>
                  <a:srgbClr val="C9D3E0"/>
                </a:solidFill>
                <a:latin typeface="Cambria"/>
              </a:rPr>
            </a:br>
            <a:r>
              <a:rPr lang="en-US" sz="1300" b="0" i="0" dirty="0">
                <a:solidFill>
                  <a:srgbClr val="C9D3E0"/>
                </a:solidFill>
                <a:latin typeface="Cambria"/>
              </a:rPr>
              <a:t>University of Tsukuba</a:t>
            </a:r>
            <a:endParaRPr sz="1300" b="0" i="0" dirty="0">
              <a:solidFill>
                <a:srgbClr val="C9D3E0"/>
              </a:solidFill>
              <a:latin typeface="Cambr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651659"/>
            <a:ext cx="1036289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rgbClr val="C9D3E0"/>
                </a:solidFill>
                <a:latin typeface="Cambria"/>
              </a:rPr>
              <a:t>Dependable AI Systems Laboratory</a:t>
            </a:r>
          </a:p>
          <a:p>
            <a:pPr algn="ctr"/>
            <a:r>
              <a:rPr sz="1600" b="0" i="0" spc="150" dirty="0">
                <a:solidFill>
                  <a:srgbClr val="B08D57"/>
                </a:solidFill>
                <a:latin typeface="Cambria"/>
              </a:rPr>
              <a:t>University of Tsukuba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4630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14630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14630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361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Background and Existing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928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Entangled enhancement and the limitation of existing studies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3774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63040" y="23774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4505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Objective and Research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072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What this study investigates, and why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2918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463040" y="32918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63040" y="32918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3649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Target Pipeline and Experimental Setup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7216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Models, data, updates and evaluation procedure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42062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463040" y="42062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2062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2793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6360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One answer for each research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1206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463040" y="51206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63040" y="51206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1937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Conclusion and Future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55504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Summary and the next step toward early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Background: Entangled 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 ·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MACHINE LEARNING SYSTEM (MLS) AS A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Each model uses the output of the upstream model before it. The models after it are downstream.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Perception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Prediction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Planning model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2537460"/>
            <a:ext cx="45720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651760" y="25374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25374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92240" y="2537460"/>
            <a:ext cx="50292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4360" y="21717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mbria"/>
              </a:rPr>
              <a:t>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717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mbria"/>
              </a:rPr>
              <a:t>path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97380" y="2971800"/>
            <a:ext cx="0" cy="594360"/>
          </a:xfrm>
          <a:prstGeom prst="line">
            <a:avLst/>
          </a:prstGeom>
          <a:ln w="25400">
            <a:solidFill>
              <a:srgbClr val="B08D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007108" y="308152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B08D57"/>
                </a:solidFill>
                <a:latin typeface="Cambria"/>
              </a:rPr>
              <a:t>retraining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3566160"/>
            <a:ext cx="1508760" cy="868680"/>
          </a:xfrm>
          <a:prstGeom prst="rect">
            <a:avLst/>
          </a:prstGeom>
          <a:solidFill>
            <a:srgbClr val="F6F3EC"/>
          </a:solidFill>
          <a:ln w="190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365760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B2545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2400" b="1" i="0">
                <a:solidFill>
                  <a:srgbClr val="0B2545"/>
                </a:solidFill>
                <a:latin typeface="Cambria"/>
              </a:rPr>
              <a:t>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01787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mbria"/>
              </a:rPr>
              <a:t>Updated model</a:t>
            </a:r>
          </a:p>
        </p:txBody>
      </p:sp>
      <p:sp>
        <p:nvSpPr>
          <p:cNvPr id="31" name="Isosceles Triangle 30"/>
          <p:cNvSpPr/>
          <p:nvPr/>
        </p:nvSpPr>
        <p:spPr>
          <a:xfrm>
            <a:off x="2880360" y="3749040"/>
            <a:ext cx="219456" cy="182880"/>
          </a:xfrm>
          <a:prstGeom prst="triangl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46120" y="3639312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mbria"/>
              </a:rPr>
              <a:t>The performance of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′ improves.</a:t>
            </a:r>
          </a:p>
        </p:txBody>
      </p:sp>
      <p:sp>
        <p:nvSpPr>
          <p:cNvPr id="33" name="Isosceles Triangle 32"/>
          <p:cNvSpPr/>
          <p:nvPr/>
        </p:nvSpPr>
        <p:spPr>
          <a:xfrm rot="10800000">
            <a:off x="2880360" y="4224528"/>
            <a:ext cx="219456" cy="182880"/>
          </a:xfrm>
          <a:prstGeom prst="triangle">
            <a:avLst/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46120" y="411480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8B2E2E"/>
                </a:solidFill>
                <a:latin typeface="Cambria"/>
              </a:rPr>
              <a:t>The performance of the MLS does not improve.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1371600"/>
            <a:ext cx="4053535" cy="310896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452360" y="1371600"/>
            <a:ext cx="63500" cy="3108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0" y="1554480"/>
            <a:ext cx="35048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200">
                <a:solidFill>
                  <a:srgbClr val="B08D57"/>
                </a:solidFill>
                <a:latin typeface="Cambria"/>
              </a:rPr>
              <a:t>DEFINITION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965960"/>
            <a:ext cx="350489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F2937"/>
                </a:solidFill>
                <a:latin typeface="Cambria"/>
              </a:rPr>
              <a:t>Entangled enhancement</a:t>
            </a:r>
            <a:r>
              <a:rPr sz="1900" b="0" i="0">
                <a:solidFill>
                  <a:srgbClr val="1F2937"/>
                </a:solidFill>
                <a:latin typeface="Cambria"/>
              </a:rPr>
              <a:t> is a retraining of one ML model that improves the performance of that model but fails to improve the performance of the whole MLS.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977640"/>
            <a:ext cx="35048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Wang and Machida, COMPSAC 2024 and ISSRE 2025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09160"/>
            <a:ext cx="5250027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85800" y="4709160"/>
            <a:ext cx="5250027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709160"/>
            <a:ext cx="4792827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First cause: adaptation of downstream models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239512"/>
            <a:ext cx="479282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A downstream model is trained on the output of the original upstream model, including its errors. The downstream model learns to work with these errors. The retraining changes these errors.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55867" y="4709160"/>
            <a:ext cx="5250027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55867" y="4709160"/>
            <a:ext cx="5250027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84467" y="4709160"/>
            <a:ext cx="4792827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Second cause: uneven improvement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84467" y="5239512"/>
            <a:ext cx="479282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The updated model improves on average. The updated model can still become worse on the inputs that matter to the downstream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Existing Studies and Their Limitation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 ·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678140"/>
              </p:ext>
            </p:extLst>
          </p:nvPr>
        </p:nvGraphicFramePr>
        <p:xfrm>
          <a:off x="685800" y="1371600"/>
          <a:ext cx="10820094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2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4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STUDY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WHAT THE STUDY SHOWS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WHAT REMAINS OPEN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Sculley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NIPS 2015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A change to one model of an MLS changes the behaviour of every model that uses its output.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study describes the risk. The study does not measure how often the risk occurs.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Wu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NeurIPS 2021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Improving one model of a system can make the whole system worse.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study does not examine a pipeline of perception, prediction and planning models.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Wang and Machida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COMPSAC 2024, ISSRE 2025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Models of when an MLS should retrain each of its ML models.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models take the probability of entangled enhancement as an input. Nobody has measured this probability in a driving pipeline.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Xu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ICRA 2024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prediction error increases when the input comes from a real perception model instead of the ground truth, which is the objects labelled by hand.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dirty="0">
                          <a:solidFill>
                            <a:srgbClr val="1F2937"/>
                          </a:solidFill>
                          <a:latin typeface="Cambria"/>
                        </a:rPr>
                        <a:t>The study does not examine a retraining of the perception model.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762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4892040"/>
            <a:ext cx="1828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spc="200">
                <a:solidFill>
                  <a:srgbClr val="B08D57"/>
                </a:solidFill>
                <a:latin typeface="Cambria"/>
              </a:rPr>
              <a:t>RESEARCH</a:t>
            </a:r>
          </a:p>
          <a:p>
            <a:pPr algn="l"/>
            <a:r>
              <a:rPr sz="1500" b="1" i="0" spc="200">
                <a:solidFill>
                  <a:srgbClr val="B08D57"/>
                </a:solidFill>
                <a:latin typeface="Cambria"/>
              </a:rPr>
              <a:t>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8168335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mbria"/>
              </a:rPr>
              <a:t>No existing study measures how often entangled enhancement occurs in an autonomous driving pipeline of ML models, or which of the two causes produces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Objective and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 ·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200">
                <a:solidFill>
                  <a:srgbClr val="B08D57"/>
                </a:solidFill>
                <a:latin typeface="Cambria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25880"/>
            <a:ext cx="862553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mbria"/>
              </a:rPr>
              <a:t>In this study, we empirically investigate whether a retraining that improves the perception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 increases the error of the prediction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 and the planning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RQ1 · OCCURRENCE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Does a retraining that improves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increase the error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or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The models of Wang and Machida need the probability of entangled enhancement. Nobody has measured this probability in a driving pipeline.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5528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A retraining that improves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can increase the prediction error or the planning error.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3938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3938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66818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RQ2 · CAUSE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818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Does the increase come from the adaptation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to the errors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6818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6818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Only training on the output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lets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learn the errors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 If this adaptation is the cause, retraining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again can remove the increase.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3666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93666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58258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5458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The increase is larger when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are trained on the output of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than on the ground truth.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82076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82076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64956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RQ3 · DETECTION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956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Can we detect entangled enhancement without ground truth?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956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956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After deployment, new data have no ground truth. A larger change in the input of a model can cause a larger increase of its error.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91804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91804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56396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13596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Retrainings with entangled enhancement change the outputs of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more than other retrainings.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Target Pipeline and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AUTONOMOUS DRIVING PIPELINE OF THREE ML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1188720" cy="105156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11887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B2545"/>
                </a:solidFill>
                <a:latin typeface="Cambria"/>
              </a:rPr>
              <a:t>Front-camera</a:t>
            </a:r>
          </a:p>
          <a:p>
            <a:pPr algn="ctr"/>
            <a:r>
              <a:rPr sz="1400" b="1" i="0">
                <a:solidFill>
                  <a:srgbClr val="0B2545"/>
                </a:solidFill>
                <a:latin typeface="Cambria"/>
              </a:rPr>
              <a:t>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591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Perception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YOLOv11n object detector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591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591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with class, position and confidence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745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3949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949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595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Prediction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AutoBot-Ego style transformer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95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595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Input: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in the last four labelled images (1.5 s)</a:t>
            </a:r>
          </a:p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six possible paths of 3 s for each object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749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5953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5953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599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Planning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99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PlanT style transformer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599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599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Input: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with their most likely path, driving command, path of the ego vehicle over the last 1.5 s (ego path)</a:t>
            </a:r>
          </a:p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planned path of the ego vehicle for 3 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753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9776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NOTATION FOR ONE RETRAINING OF C</a:t>
            </a:r>
            <a:r>
              <a:rPr sz="1200" b="1" i="0" spc="15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Gain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in mAP50, the standard accuracy measure of object detection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2044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Increase of the prediction error minADE: distance between the predicted and the true path, for the best of the six paths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7220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Increase of the planning error: distance between the planned position and the position of the human driver at 3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4389120"/>
            <a:ext cx="2864815" cy="1783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641080" y="4389120"/>
            <a:ext cx="286481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869680" y="4526280"/>
            <a:ext cx="240761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ENTANGLED ENHANCEMENT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846320"/>
            <a:ext cx="24076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9D3E0"/>
                </a:solidFill>
                <a:latin typeface="Cambria"/>
              </a:rPr>
              <a:t>A retraining shows entangled enhancement when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5257800"/>
            <a:ext cx="2681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mbria"/>
              </a:rPr>
              <a:t>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   and</a:t>
            </a:r>
          </a:p>
          <a:p>
            <a:pPr algn="ctr"/>
            <a:r>
              <a:rPr sz="1900" b="1" i="0">
                <a:solidFill>
                  <a:srgbClr val="FFFFFF"/>
                </a:solidFill>
                <a:latin typeface="Cambria"/>
              </a:rPr>
              <a:t>(Δ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   or   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Training Modes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17320"/>
            <a:ext cx="2331720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635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5270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00">
                <a:solidFill>
                  <a:srgbClr val="B08D57"/>
                </a:solidFill>
                <a:latin typeface="Cambria"/>
              </a:rPr>
              <a:t>GT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874520"/>
            <a:ext cx="2011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and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never see</a:t>
            </a:r>
          </a:p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the errors of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2103120" cy="109728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47288" y="14173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Ground truth (GT)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objects labelled by hand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417320"/>
            <a:ext cx="2103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16168" y="14173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Train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1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3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then keep them fixed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40680" y="1965960"/>
            <a:ext cx="36576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19659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788920"/>
            <a:ext cx="2331720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2788920"/>
            <a:ext cx="635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898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00">
                <a:solidFill>
                  <a:srgbClr val="B08D57"/>
                </a:solidFill>
                <a:latin typeface="Cambria"/>
              </a:rPr>
              <a:t>C</a:t>
            </a:r>
            <a:r>
              <a:rPr sz="1300" b="1" i="0" spc="100" baseline="-25000">
                <a:solidFill>
                  <a:srgbClr val="B08D57"/>
                </a:solidFill>
                <a:latin typeface="Cambria"/>
              </a:rPr>
              <a:t>1</a:t>
            </a:r>
            <a:r>
              <a:rPr sz="1300" b="1" i="0" spc="100">
                <a:solidFill>
                  <a:srgbClr val="B08D57"/>
                </a:solidFill>
                <a:latin typeface="Cambria"/>
              </a:rPr>
              <a:t>-OUTPUT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246120"/>
            <a:ext cx="2011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and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learn</a:t>
            </a:r>
          </a:p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the errors of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788920"/>
            <a:ext cx="2103120" cy="109728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47288" y="27889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Output of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1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including its errors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788920"/>
            <a:ext cx="2103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16168" y="27889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Train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1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3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then keep them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40680" y="3337560"/>
            <a:ext cx="36576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33375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321040" y="1417320"/>
            <a:ext cx="3184855" cy="24688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21040" y="1417320"/>
            <a:ext cx="318485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1600200"/>
            <a:ext cx="272765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TEST AFTER EACH RETRAINING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27655" cy="124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endParaRPr lang="en-US" sz="1500" b="0" i="0" dirty="0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0000"/>
              </a:lnSpc>
            </a:pPr>
            <a:r>
              <a:rPr sz="1500" b="0" i="0" dirty="0">
                <a:solidFill>
                  <a:srgbClr val="FFFFFF"/>
                </a:solidFill>
                <a:latin typeface="Cambria"/>
              </a:rPr>
              <a:t>Both versions of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 and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 receive the output of the same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′ on the same test scenes.</a:t>
            </a:r>
          </a:p>
          <a:p>
            <a:pPr algn="l">
              <a:lnSpc>
                <a:spcPct val="110000"/>
              </a:lnSpc>
            </a:pPr>
            <a:r>
              <a:rPr sz="1500" b="0" i="0" dirty="0">
                <a:solidFill>
                  <a:srgbClr val="FFFFFF"/>
                </a:solidFill>
                <a:latin typeface="Cambria"/>
              </a:rPr>
              <a:t>Only the training differs.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160520"/>
            <a:ext cx="10820095" cy="196596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85800" y="4160520"/>
            <a:ext cx="76200" cy="1965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2976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HOW WE READ THE COMPARISON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70916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The error increases only after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-output training.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7091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B08D57"/>
                </a:solidFill>
                <a:latin typeface="Cambria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709160"/>
            <a:ext cx="505937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First cause: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adaptation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to the errors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4924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The error increases after both training modes.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534924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B08D57"/>
                </a:solidFill>
                <a:latin typeface="Cambria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05937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Second cause: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uneven improvement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6263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DATA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72768"/>
            <a:ext cx="6263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 dirty="0">
                <a:solidFill>
                  <a:srgbClr val="1F2937"/>
                </a:solidFill>
                <a:latin typeface="Cambria"/>
              </a:rPr>
              <a:t>350 of the 850 scenes of </a:t>
            </a:r>
            <a:r>
              <a:rPr sz="1350" b="0" i="1" dirty="0" err="1">
                <a:solidFill>
                  <a:srgbClr val="1F2937"/>
                </a:solidFill>
                <a:latin typeface="Cambria"/>
              </a:rPr>
              <a:t>nuScenes</a:t>
            </a:r>
            <a:r>
              <a:rPr sz="1350" b="0" i="1" dirty="0">
                <a:solidFill>
                  <a:srgbClr val="1F2937"/>
                </a:solidFill>
                <a:latin typeface="Cambria"/>
              </a:rPr>
              <a:t> (driving clips of about 20 s), front camera only, 4.6 GB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3120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2103120"/>
            <a:ext cx="3017520" cy="365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BOSTON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44368"/>
            <a:ext cx="26517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>
                <a:solidFill>
                  <a:srgbClr val="6B7280"/>
                </a:solidFill>
                <a:latin typeface="Cambria"/>
              </a:rPr>
              <a:t>Two original C</a:t>
            </a:r>
            <a:r>
              <a:rPr sz="1200" b="0" i="1" baseline="-25000" dirty="0">
                <a:solidFill>
                  <a:srgbClr val="6B7280"/>
                </a:solidFill>
                <a:latin typeface="Cambria"/>
              </a:rPr>
              <a:t>1</a:t>
            </a:r>
            <a:r>
              <a:rPr sz="1200" b="0" i="1" dirty="0">
                <a:solidFill>
                  <a:srgbClr val="6B7280"/>
                </a:solidFill>
                <a:latin typeface="Cambria"/>
              </a:rPr>
              <a:t>, with random seed 0 and </a:t>
            </a:r>
            <a:r>
              <a:rPr lang="en-US" sz="1200" b="0" i="1" dirty="0">
                <a:solidFill>
                  <a:srgbClr val="6B7280"/>
                </a:solidFill>
                <a:latin typeface="Cambria"/>
              </a:rPr>
              <a:t>seed </a:t>
            </a:r>
            <a:r>
              <a:rPr sz="1200" b="0" i="1" dirty="0">
                <a:solidFill>
                  <a:srgbClr val="6B7280"/>
                </a:solidFill>
                <a:latin typeface="Cambria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103120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931920" y="2103120"/>
            <a:ext cx="3017520" cy="365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BOSTON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5603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944368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86 training and 14 validation scenes, separate from Boston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67328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3767328"/>
            <a:ext cx="3017520" cy="3657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SINGAPORE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245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Retraining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608576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A new city, as in an update after deployment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3767328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931920" y="3767328"/>
            <a:ext cx="3017520" cy="3657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SINGAPORE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50 scenes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2245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608576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1,720 test samples, one per labelled image with 3 s of future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1280160"/>
            <a:ext cx="41906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315200" y="1280160"/>
            <a:ext cx="4190695" cy="4114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0" y="1280160"/>
            <a:ext cx="382493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RETRAININGS OF C</a:t>
            </a:r>
            <a:r>
              <a:rPr sz="1250" b="1" i="0" spc="15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1783080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B08D57"/>
                </a:solidFill>
                <a:latin typeface="Cambria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1810512"/>
            <a:ext cx="2819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retrainings</a:t>
            </a:r>
          </a:p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= 2 original C</a:t>
            </a:r>
            <a:r>
              <a:rPr sz="15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500" b="1" i="0">
                <a:solidFill>
                  <a:srgbClr val="0B2545"/>
                </a:solidFill>
                <a:latin typeface="Cambria"/>
              </a:rPr>
              <a:t> × 15 settings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2578608"/>
            <a:ext cx="38249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mbria"/>
              </a:rPr>
              <a:t>Original C</a:t>
            </a:r>
            <a:r>
              <a:rPr sz="1300" b="1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1" i="0">
                <a:solidFill>
                  <a:srgbClr val="1F2937"/>
                </a:solidFill>
                <a:latin typeface="Cambria"/>
              </a:rPr>
              <a:t>: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YOLOv11n, 10 epochs on Boston 1, random seed 0 or 1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324366"/>
              </p:ext>
            </p:extLst>
          </p:nvPr>
        </p:nvGraphicFramePr>
        <p:xfrm>
          <a:off x="7498080" y="3246120"/>
          <a:ext cx="3824935" cy="1331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01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6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 USED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SETTINGS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  <a:t>100 %, 50 %,</a:t>
                      </a:r>
                      <a:br>
                        <a:rPr lang="en-US"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</a:br>
                      <a:r>
                        <a:rPr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  <a:t> 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3 × 3 seeds = 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0B2545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5 or 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>
                          <a:solidFill>
                            <a:srgbClr val="1F2937"/>
                          </a:solidFill>
                          <a:latin typeface="Cambria"/>
                        </a:rPr>
                        <a:t>2 × 3 seeds = 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7589520" y="4578096"/>
            <a:ext cx="382493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1" dirty="0">
                <a:solidFill>
                  <a:srgbClr val="6B7280"/>
                </a:solidFill>
                <a:latin typeface="Cambria"/>
              </a:rPr>
              <a:t>A random seed is the starting number for the random choices in training.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321808"/>
            <a:ext cx="10820095" cy="685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5800" y="5321808"/>
            <a:ext cx="7620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05840" y="5321808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1800" y="5321808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mbria"/>
              </a:rPr>
              <a:t>Kaggle notebook  ·  NVIDIA Tesla T4 GPU (15 GB)  ·  Python 3.13  ·  PyTorch 2.11 (CUDA 12.8)  ·  Ultralytics 8.4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Evaluation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PROCEDURE FOR EACH RETRAINING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252" y="17947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Run the pipeline with the original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on the 50 test scenes.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4875" y="2286000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1119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Run the same fixed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and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with the retrained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′ on the same scenes.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875" y="3182112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57600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Compute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,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and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as the differences between the two runs.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875" y="4078224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4471416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4714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559932"/>
            <a:ext cx="44348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Repeat for both training modes and all 30 retraining.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394960"/>
            <a:ext cx="5074920" cy="640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394960"/>
            <a:ext cx="4709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A single positive Δ can come from chance. Each level of evidence removes one source of chance.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80160"/>
            <a:ext cx="53336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THREE LEVELS OF EVIDENCE FOR AN INCREASE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1691640"/>
            <a:ext cx="53336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72200" y="1691640"/>
            <a:ext cx="762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180136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1764792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Any increase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148840"/>
            <a:ext cx="39620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&gt; 0 or Δ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&gt;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2670048"/>
            <a:ext cx="5333695" cy="1783080"/>
          </a:xfrm>
          <a:prstGeom prst="rect">
            <a:avLst/>
          </a:prstGeom>
          <a:solidFill>
            <a:srgbClr val="2E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2670048"/>
            <a:ext cx="76200" cy="17830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2779776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2743200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Larger than seed variation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3127248"/>
            <a:ext cx="396209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0"/>
                </a:solidFill>
                <a:latin typeface="Cambria"/>
              </a:rPr>
              <a:t>Seed variation is the change in error when we replace the original C</a:t>
            </a:r>
            <a:r>
              <a:rPr sz="130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300" b="0" i="0">
                <a:solidFill>
                  <a:srgbClr val="C9D3E0"/>
                </a:solidFill>
                <a:latin typeface="Cambria"/>
              </a:rPr>
              <a:t> by the other original C</a:t>
            </a:r>
            <a:r>
              <a:rPr sz="130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300" b="0" i="0">
                <a:solidFill>
                  <a:srgbClr val="C9D3E0"/>
                </a:solidFill>
                <a:latin typeface="Cambria"/>
              </a:rPr>
              <a:t>. The two differ only in the random seed and have almost the same accuracy.</a:t>
            </a:r>
          </a:p>
          <a:p>
            <a:pPr algn="l"/>
            <a:r>
              <a:rPr sz="1300" b="1" i="0">
                <a:solidFill>
                  <a:srgbClr val="C9D3E0"/>
                </a:solidFill>
                <a:latin typeface="Cambria"/>
              </a:rPr>
              <a:t>Threshold:  Δ</a:t>
            </a:r>
            <a:r>
              <a:rPr sz="1300" b="1" i="0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300" b="1" i="0">
                <a:solidFill>
                  <a:srgbClr val="C9D3E0"/>
                </a:solidFill>
                <a:latin typeface="Cambria"/>
              </a:rPr>
              <a:t> &gt; 0.112 m,  Δ</a:t>
            </a:r>
            <a:r>
              <a:rPr sz="1300" b="1" i="0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300" b="1" i="0">
                <a:solidFill>
                  <a:srgbClr val="C9D3E0"/>
                </a:solidFill>
                <a:latin typeface="Cambria"/>
              </a:rPr>
              <a:t> &gt; 0.018 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562856"/>
            <a:ext cx="5333695" cy="11887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72200" y="4562856"/>
            <a:ext cx="76200" cy="11887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4672584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636008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Statistically significant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5020056"/>
            <a:ext cx="39620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0"/>
                </a:solidFill>
                <a:latin typeface="Cambria"/>
              </a:rPr>
              <a:t>We randomly resample the 50 test scenes 2,000 times. The middle 95 % of the resampled increases lies above zero.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861304"/>
            <a:ext cx="53336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50" b="0" i="1">
                <a:solidFill>
                  <a:srgbClr val="6B7280"/>
                </a:solidFill>
                <a:latin typeface="Cambria"/>
              </a:rPr>
              <a:t>weaker  →  stronger evidence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Check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7772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7772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7373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WHY WE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25880"/>
            <a:ext cx="867125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mbria"/>
              </a:rPr>
              <a:t>If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 or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 were no better than a simple rule, a change of their error would say nothing about the retraining of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. We therefore compare both models with simple baselines on the test scenes.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240280"/>
          <a:ext cx="10820095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6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MODEL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INPUT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ERROR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SIMPLE BASELINE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RESULT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Ground-truth objects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0.77 m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4.48 m: objects stay still</a:t>
                      </a:r>
                    </a:p>
                    <a:p>
                      <a:pPr algn="l"/>
                      <a:r>
                        <a:rPr sz="1100" b="0" i="1">
                          <a:solidFill>
                            <a:srgbClr val="6B7280"/>
                          </a:solidFill>
                          <a:latin typeface="Cambria"/>
                        </a:rPr>
                        <a:t>1.01 m: objects keep their speed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2.39 to 2.95 m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5.39 to 5.85 m: objects stay still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 without ego path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9.3 to 12.5 m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9.25 m: average Boston path for each driving command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Not better, not used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 with ego path</a:t>
                      </a:r>
                    </a:p>
                    <a:p>
                      <a:pPr algn="l"/>
                      <a:r>
                        <a:rPr sz="1100" b="0" i="1">
                          <a:solidFill>
                            <a:srgbClr val="6B7280"/>
                          </a:solidFill>
                          <a:latin typeface="Cambria"/>
                        </a:rPr>
                        <a:t>used in this study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 and the ego path of the last 1.5 s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3.70 to 4.16 m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9.25 m: average Boston path for each driving command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4901184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Cambria"/>
              </a:rPr>
              <a:t>Error of C</a:t>
            </a:r>
            <a:r>
              <a:rPr sz="1150" b="0" i="1" baseline="-25000">
                <a:solidFill>
                  <a:srgbClr val="6B7280"/>
                </a:solidFill>
                <a:latin typeface="Cambria"/>
              </a:rPr>
              <a:t>2</a:t>
            </a:r>
            <a:r>
              <a:rPr sz="1150" b="0" i="1">
                <a:solidFill>
                  <a:srgbClr val="6B7280"/>
                </a:solidFill>
                <a:latin typeface="Cambria"/>
              </a:rPr>
              <a:t>: minADE.  Error of C</a:t>
            </a:r>
            <a:r>
              <a:rPr sz="1150" b="0" i="1" baseline="-25000">
                <a:solidFill>
                  <a:srgbClr val="6B7280"/>
                </a:solidFill>
                <a:latin typeface="Cambria"/>
              </a:rPr>
              <a:t>3</a:t>
            </a:r>
            <a:r>
              <a:rPr sz="1150" b="0" i="1">
                <a:solidFill>
                  <a:srgbClr val="6B7280"/>
                </a:solidFill>
                <a:latin typeface="Cambria"/>
              </a:rPr>
              <a:t>: distance to the position of the human driver at 3 s.  All values on the 50 test scenes.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285232"/>
            <a:ext cx="10820095" cy="8961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5285232"/>
            <a:ext cx="76200" cy="89611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285232"/>
            <a:ext cx="17373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OBJECT-USE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285232"/>
            <a:ext cx="8671255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mbria"/>
              </a:rPr>
              <a:t>An ego-path input can let a planning model ignore the objects. Removing the objects from the input of C</a:t>
            </a:r>
            <a:r>
              <a:rPr sz="140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00" b="0" i="0">
                <a:solidFill>
                  <a:srgbClr val="FFFFFF"/>
                </a:solidFill>
                <a:latin typeface="Cambria"/>
              </a:rPr>
              <a:t> moves the planned position at 3 s by 0.73 to 1.65 m. This shift is above the threshold of 0.5 m. C</a:t>
            </a:r>
            <a:r>
              <a:rPr sz="140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00" b="0" i="0">
                <a:solidFill>
                  <a:srgbClr val="FFFFFF"/>
                </a:solidFill>
                <a:latin typeface="Cambria"/>
              </a:rPr>
              <a:t> still uses the objects.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Prediction Model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RQ1,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>
                <a:solidFill>
                  <a:srgbClr val="0B2545"/>
                </a:solidFill>
                <a:latin typeface="Cambria"/>
              </a:rPr>
              <a:t>We test whether the prediction error increases, and whether the training mode matters.</a:t>
            </a:r>
          </a:p>
        </p:txBody>
      </p:sp>
      <p:pic>
        <p:nvPicPr>
          <p:cNvPr id="10" name="Picture 9" descr="fig_delt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6355080" cy="359563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772400" y="132588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0" y="132588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01000" y="1371600"/>
            <a:ext cx="33677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i="0">
                <a:solidFill>
                  <a:srgbClr val="0B2545"/>
                </a:solidFill>
                <a:latin typeface="Cambria"/>
              </a:rPr>
              <a:t>C</a:t>
            </a:r>
            <a:r>
              <a:rPr sz="145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450" b="1" i="0">
                <a:solidFill>
                  <a:srgbClr val="0B2545"/>
                </a:solidFill>
                <a:latin typeface="Cambria"/>
              </a:rPr>
              <a:t>′ is better in all 30 retrainings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737360"/>
            <a:ext cx="33677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= +0.048 to +0.118 in mAP50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377440"/>
            <a:ext cx="37334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spc="120">
                <a:solidFill>
                  <a:srgbClr val="B08D57"/>
                </a:solidFill>
                <a:latin typeface="Cambria"/>
              </a:rPr>
              <a:t>RETRAININGS WITH Δ</a:t>
            </a:r>
            <a:r>
              <a:rPr sz="1150" b="1" i="0" spc="120" baseline="-25000">
                <a:solidFill>
                  <a:srgbClr val="B08D57"/>
                </a:solidFill>
                <a:latin typeface="Cambria"/>
              </a:rPr>
              <a:t>2</a:t>
            </a:r>
            <a:r>
              <a:rPr sz="1150" b="1" i="0" spc="120">
                <a:solidFill>
                  <a:srgbClr val="B08D57"/>
                </a:solidFill>
                <a:latin typeface="Cambria"/>
              </a:rPr>
              <a:t> &gt; 0  (OF 30)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876407"/>
              </p:ext>
            </p:extLst>
          </p:nvPr>
        </p:nvGraphicFramePr>
        <p:xfrm>
          <a:off x="7772400" y="2697480"/>
          <a:ext cx="3733495" cy="1712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79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9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LEVEL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1. Any increase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2. Above seed variation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11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3. Significant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>
                          <a:solidFill>
                            <a:srgbClr val="1F2937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772400" y="4531373"/>
            <a:ext cx="3733495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4515091"/>
            <a:ext cx="336773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is larger after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-output training than after GT training in </a:t>
            </a:r>
            <a:r>
              <a:rPr sz="1350" b="1" i="0">
                <a:solidFill>
                  <a:srgbClr val="1F2937"/>
                </a:solidFill>
                <a:latin typeface="Cambria"/>
              </a:rPr>
              <a:t>30 of 30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retrainings.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321808"/>
            <a:ext cx="10820095" cy="822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5321808"/>
            <a:ext cx="76200" cy="822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21808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TO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RQ1 AND RQ2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21808"/>
            <a:ext cx="8396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mbria"/>
              </a:rPr>
              <a:t>H1 and H2 hold for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. The increases above seed variation appear only after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-output training. This result points to the first cause, the adaptation of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 to the errors of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Planning Model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RQ1,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>
                <a:solidFill>
                  <a:srgbClr val="0B2545"/>
                </a:solidFill>
                <a:latin typeface="Cambria"/>
              </a:rPr>
              <a:t>We test whether the increase reaches the end of the pipeline, the planned path of C</a:t>
            </a:r>
            <a:r>
              <a:rPr sz="1350" b="0" i="1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350" b="0" i="1">
                <a:solidFill>
                  <a:srgbClr val="0B2545"/>
                </a:solidFill>
                <a:latin typeface="Cambria"/>
              </a:rPr>
              <a:t>.</a:t>
            </a:r>
          </a:p>
        </p:txBody>
      </p:sp>
      <p:pic>
        <p:nvPicPr>
          <p:cNvPr id="10" name="Picture 9" descr="fig_delt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6355080" cy="35956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325880"/>
            <a:ext cx="37334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spc="120">
                <a:solidFill>
                  <a:srgbClr val="B08D57"/>
                </a:solidFill>
                <a:latin typeface="Cambria"/>
              </a:rPr>
              <a:t>RETRAININGS WITH Δ</a:t>
            </a:r>
            <a:r>
              <a:rPr sz="1150" b="1" i="0" spc="120" baseline="-25000">
                <a:solidFill>
                  <a:srgbClr val="B08D57"/>
                </a:solidFill>
                <a:latin typeface="Cambria"/>
              </a:rPr>
              <a:t>3</a:t>
            </a:r>
            <a:r>
              <a:rPr sz="1150" b="1" i="0" spc="120">
                <a:solidFill>
                  <a:srgbClr val="B08D57"/>
                </a:solidFill>
                <a:latin typeface="Cambria"/>
              </a:rPr>
              <a:t> &gt; 0  (OF 30)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411338"/>
              </p:ext>
            </p:extLst>
          </p:nvPr>
        </p:nvGraphicFramePr>
        <p:xfrm>
          <a:off x="7772400" y="1645920"/>
          <a:ext cx="3733495" cy="1712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17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LEVEL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1. Any increase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2. Above seed variation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3. Significant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dirty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772400" y="342900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0" y="342900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3502152"/>
            <a:ext cx="336773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The increase is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13048"/>
            <a:ext cx="33677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Largest Δ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: 0.13 m, against a planning error of 3.70 to 4.16 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38912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0" y="438912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01000" y="4462272"/>
            <a:ext cx="336773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The objects have a small effect on C</a:t>
            </a:r>
            <a:r>
              <a:rPr sz="1400" b="1" i="0" baseline="-2500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773168"/>
            <a:ext cx="33677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Removing all objects moves the plan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by only 0.73 to 1.65 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40680"/>
            <a:ext cx="10820095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5440680"/>
            <a:ext cx="76200" cy="7772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44068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FOR C</a:t>
            </a:r>
            <a:r>
              <a:rPr sz="1250" b="1" i="0" spc="15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440680"/>
            <a:ext cx="839693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The planning error increases, but by at most 0.13 m. The increase is more frequent after GT training. The first cause cannot explain this increase.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Retraining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on the Output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13</a:t>
            </a:r>
          </a:p>
        </p:txBody>
      </p:sp>
      <p:pic>
        <p:nvPicPr>
          <p:cNvPr id="9" name="Picture 8" descr="fig_re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34791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32588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75320" y="132588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141732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WHAT WE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70992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We retrain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on the output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′. We test one retraining of each original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256032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20" y="256032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265176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CHANGE IN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4436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Prediction error: −0.36 m and −0.16 m</a:t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Planning error: −0.44 m and −0.30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379476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75320" y="379476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388620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17880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Both errors fall below their values before the retraining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321808"/>
            <a:ext cx="10820095" cy="822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5321808"/>
            <a:ext cx="76200" cy="822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5321808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TAKEAWAY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321808"/>
            <a:ext cx="8396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When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 and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 learn the errors of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′, both errors decrease. This result supports the first cause. Retraining all downstream models after every update has a cost. This cost motivates RQ3.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Detection Without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RQ3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14</a:t>
            </a:r>
          </a:p>
        </p:txBody>
      </p:sp>
      <p:pic>
        <p:nvPicPr>
          <p:cNvPr id="9" name="Picture 8" descr="fig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492240" cy="39479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269480" y="1280160"/>
            <a:ext cx="42364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69480" y="1280160"/>
            <a:ext cx="50800" cy="74980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0" y="1353312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1609344"/>
            <a:ext cx="387065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After deployment, new data have no ground truth. A warning sign must work without ground truth.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103120"/>
            <a:ext cx="423641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269480" y="2103120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0" y="2176272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WHAT WE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432304"/>
            <a:ext cx="3870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Nine measures compare the outputs before and after the retraining on the same test images. Seven use the output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 Two use the output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090672"/>
            <a:ext cx="4236415" cy="987552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69480" y="3090672"/>
            <a:ext cx="50800" cy="9875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0" y="3163824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WHY RANK CORRELATION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3419856"/>
            <a:ext cx="3870655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A useful measure is larger for retrainings with a larger Δ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 Rank correlation measures this agreement. A value of +1 is perfect agreement, and 0 is none.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4151376"/>
            <a:ext cx="4236415" cy="987552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69480" y="4151376"/>
            <a:ext cx="50800" cy="9875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224528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4480560"/>
            <a:ext cx="3870655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The best measure is the shift of predicted positions. Its rank correlation is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+0.68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over all 30 retrainings, but only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+0.29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and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−0.28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within each original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440680"/>
            <a:ext cx="10820095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5440680"/>
            <a:ext cx="76200" cy="74980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5440680"/>
            <a:ext cx="1828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TO RQ3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5440680"/>
            <a:ext cx="8396935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H3 is not supported. The best measure only separates the two original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. No measure identifies single retrainings with entangled enhancement.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V ·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96012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9601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27145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In this study, we empirically investigated entangled enhancement in an autonomous driving pipeline of three ML models. We retrained the perception model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30 times and trained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in two training modes.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RQ1 · OCCURRENCE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468880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468880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observe that a retraining that improves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increases the prediction error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. The increase is above seed variation in 11 of 30 retrainings and significant in 3. The planning error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increases by at most 0.13 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31375" y="2651760"/>
            <a:ext cx="173736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31375" y="26517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H1 SUPPORTED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FOR C</a:t>
            </a:r>
            <a:r>
              <a:rPr sz="1150" b="1" i="0" spc="10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639312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639312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RQ2 · CAUSE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3639312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63240" y="3639312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confirm that the increase in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comes from the adaptation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to the errors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. The increase appears only after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-output training. Retraining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on the output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′ lowers both errors.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1375" y="3822192"/>
            <a:ext cx="173736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1375" y="3822192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H2 SUPPORTED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FOR C</a:t>
            </a:r>
            <a:r>
              <a:rPr sz="1150" b="1" i="0" spc="10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09744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809744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RQ3 · DETECTION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4809744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63240" y="4809744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find no measure without ground truth that identifies single retrainings with entangled enhancement.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31375" y="4992624"/>
            <a:ext cx="1737360" cy="685800"/>
          </a:xfrm>
          <a:prstGeom prst="rect">
            <a:avLst/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31375" y="4992624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H3 NOT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SUPPORTED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V ·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820095" cy="1828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71600"/>
            <a:ext cx="76200" cy="1828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5544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00">
                <a:solidFill>
                  <a:srgbClr val="B08D57"/>
                </a:solidFill>
                <a:latin typeface="Cambria"/>
              </a:rPr>
              <a:t>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874520"/>
            <a:ext cx="100885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mbria"/>
              </a:rPr>
              <a:t>Early detection of entangled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377440"/>
            <a:ext cx="1008857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0" i="0">
                <a:solidFill>
                  <a:srgbClr val="C9D3E0"/>
                </a:solidFill>
                <a:latin typeface="Cambria"/>
              </a:rPr>
              <a:t>We are developing a method that detects entangled enhancement before C</a:t>
            </a:r>
            <a:r>
              <a:rPr sz="155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550" b="0" i="0">
                <a:solidFill>
                  <a:srgbClr val="C9D3E0"/>
                </a:solidFill>
                <a:latin typeface="Cambria"/>
              </a:rPr>
              <a:t>′ is deployed, and before ground truth for the new data exists. None of the nine measures in this study achieves this detection.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More test scenes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With 50 test scenes, only 3 of 30 increases are statistically significant. More scenes give narrower intervals.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3938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83938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612538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2538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6898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More original C</a:t>
            </a:r>
            <a:r>
              <a:rPr sz="17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All 11 increases above seed variation come from one original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. More original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show how often this case occurs.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2076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82076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310676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10676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5036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Input to retraining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0676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The measured frequency of entangled enhancement can serve as the probability in the models of Wang and Machida.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" y="393192"/>
            <a:ext cx="11405311" cy="6071616"/>
          </a:xfrm>
          <a:prstGeom prst="rect">
            <a:avLst/>
          </a:prstGeom>
          <a:noFill/>
          <a:ln w="63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28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267047" y="3299206"/>
            <a:ext cx="170992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4719" y="3299206"/>
            <a:ext cx="170992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Diamond 7"/>
          <p:cNvSpPr/>
          <p:nvPr/>
        </p:nvSpPr>
        <p:spPr>
          <a:xfrm>
            <a:off x="6036411" y="3246120"/>
            <a:ext cx="118872" cy="118872"/>
          </a:xfrm>
          <a:prstGeom prst="diamond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1">
                <a:solidFill>
                  <a:srgbClr val="C9D3E0"/>
                </a:solidFill>
                <a:latin typeface="Cambria"/>
              </a:rPr>
              <a:t>Questions and comments are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spc="100">
                <a:solidFill>
                  <a:srgbClr val="B08D57"/>
                </a:solidFill>
                <a:latin typeface="Cambria"/>
              </a:rPr>
              <a:t>Rashedul Arefin Ifty  ·  Dependable AI Systems Laboratory  ·  University of Tsukuba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A: Retrainings of Original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, Seed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385175"/>
              </p:ext>
            </p:extLst>
          </p:nvPr>
        </p:nvGraphicFramePr>
        <p:xfrm>
          <a:off x="685800" y="1280160"/>
          <a:ext cx="10820092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#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 dirty="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+0.067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+0.139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−0.060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+0.184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+0.081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+0.192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+0.063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+0.127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+0.233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−0.030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+0.059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+0.157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+0.182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−0.073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+0.266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−0.079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0.000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+0.127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+0.115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+0.056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133281"/>
            <a:ext cx="1082009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mbria"/>
              </a:rPr>
              <a:t>Changes in meters after the retraining.  Shaded: larger than seed variation (0.112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2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, 0.018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3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).  * Statistically significant.  Data: share of Singapore 1 used for the retraining.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B: Retrainings of Original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, Seed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183005"/>
              </p:ext>
            </p:extLst>
          </p:nvPr>
        </p:nvGraphicFramePr>
        <p:xfrm>
          <a:off x="685800" y="1280160"/>
          <a:ext cx="10820092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#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 dirty="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−0.170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+0.073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−0.187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−0.280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−0.030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+0.072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−0.135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+0.070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−0.111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−0.267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+0.052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−0.107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30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B728D99-21A2-9DC6-C96D-862AB091E407}"/>
              </a:ext>
            </a:extLst>
          </p:cNvPr>
          <p:cNvSpPr txBox="1"/>
          <p:nvPr/>
        </p:nvSpPr>
        <p:spPr>
          <a:xfrm>
            <a:off x="685800" y="6133281"/>
            <a:ext cx="1082009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mbria"/>
              </a:rPr>
              <a:t>Changes in meters after the retraining.  Shaded: larger than seed variation (0.112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2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, 0.018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3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).  * Statistically significant.  Data: share of Singapore 1 used for the retraining.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C: Details of the ML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Perception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YOLOv11n object detector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Input: front-camera image, 640 pixels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Trained 10 epochs on Boston 1, batch size 8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Last checkpoint used; the test scenes never select a model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mAP50 on the test scenes: 0.109 (seed 0), 0.117 (seed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3938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3938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6818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Prediction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AutoBot-Ego style transformer, centred on each target object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Input: detections in the last four labelled images, relative to the target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2 encoder and 2 decoder layers, 128 features, 4 attention heads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Output: six possible paths of 3 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Same object across images found by attention, without a separate matching step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736,799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2076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82076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64956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Planning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4956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PlanT style transformer, one input token per object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Object token: position, most likely path from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, class, confidence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Further tokens: driving command and ego path of the last 1.5 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4 layers, 128 features, 4 attention heads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Recurrent decoder: six points of the planned path, 0.5 s apart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636,930 parameters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20640"/>
            <a:ext cx="1082009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762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2064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20">
                <a:solidFill>
                  <a:srgbClr val="B08D57"/>
                </a:solidFill>
                <a:latin typeface="Cambria"/>
              </a:rPr>
              <a:t>TRAINING OF</a:t>
            </a:r>
          </a:p>
          <a:p>
            <a:pPr algn="l"/>
            <a:r>
              <a:rPr sz="1200" b="1" i="0" spc="120">
                <a:solidFill>
                  <a:srgbClr val="B08D57"/>
                </a:solidFill>
                <a:latin typeface="Cambria"/>
              </a:rPr>
              <a:t>C</a:t>
            </a:r>
            <a:r>
              <a:rPr sz="1200" b="1" i="0" spc="120" baseline="-25000">
                <a:solidFill>
                  <a:srgbClr val="B08D57"/>
                </a:solidFill>
                <a:latin typeface="Cambria"/>
              </a:rPr>
              <a:t>2</a:t>
            </a:r>
            <a:r>
              <a:rPr sz="1200" b="1" i="0" spc="120">
                <a:solidFill>
                  <a:srgbClr val="B08D57"/>
                </a:solidFill>
                <a:latin typeface="Cambria"/>
              </a:rPr>
              <a:t> AND C</a:t>
            </a:r>
            <a:r>
              <a:rPr sz="1200" b="1" i="0" spc="12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120640"/>
            <a:ext cx="844265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Boston 2: 86 training and 14 validation scenes. Early stopping on the validation scenes (patience 8 epochs for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, 10 for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). Mirror and rotation (±10°) augmentation. The error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uses the objects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matched one to one with a ground-truth object of the same class.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3591</Words>
  <Application>Microsoft Macintosh PowerPoint</Application>
  <PresentationFormat>Widescreen</PresentationFormat>
  <Paragraphs>706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Rashedul Arefin Ifty</cp:lastModifiedBy>
  <cp:revision>19</cp:revision>
  <dcterms:created xsi:type="dcterms:W3CDTF">2013-01-27T09:14:16Z</dcterms:created>
  <dcterms:modified xsi:type="dcterms:W3CDTF">2026-10-14T03:40:03Z</dcterms:modified>
  <cp:category/>
</cp:coreProperties>
</file>