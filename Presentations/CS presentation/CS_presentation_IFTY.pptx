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6" r:id="rId26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7" r:id="rId2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 snapToObjects="1">
      <p:cViewPr>
        <p:scale>
          <a:sx n="125" d="100"/>
          <a:sy n="125" d="100"/>
        </p:scale>
        <p:origin x="6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4.xml"/><Relationship Id="rId27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270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93192" y="393192"/>
            <a:ext cx="11405311" cy="6071616"/>
          </a:xfrm>
          <a:prstGeom prst="rect">
            <a:avLst/>
          </a:prstGeom>
          <a:noFill/>
          <a:ln w="635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77724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spc="300">
                <a:solidFill>
                  <a:srgbClr val="B08D57"/>
                </a:solidFill>
                <a:latin typeface="Cambria"/>
              </a:rPr>
              <a:t>0ALD515  ·  RESEARCH IN COMPUTER SCIENCE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11535" cy="1508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mbria"/>
              </a:rPr>
              <a:t>An Empirical Analysis of Entangled Enhancement</a:t>
            </a:r>
          </a:p>
          <a:p>
            <a:pPr algn="ctr"/>
            <a:r>
              <a:rPr sz="3400" b="1" i="0">
                <a:solidFill>
                  <a:srgbClr val="FFFFFF"/>
                </a:solidFill>
                <a:latin typeface="Cambria"/>
              </a:rPr>
              <a:t>in an Autonomous Driving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8407" y="2887726"/>
            <a:ext cx="2258568" cy="127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4719" y="2887726"/>
            <a:ext cx="2258568" cy="127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Diamond 8"/>
          <p:cNvSpPr/>
          <p:nvPr/>
        </p:nvSpPr>
        <p:spPr>
          <a:xfrm>
            <a:off x="6036411" y="2834640"/>
            <a:ext cx="118872" cy="118872"/>
          </a:xfrm>
          <a:prstGeom prst="diamond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89497" y="3337560"/>
            <a:ext cx="12700" cy="20116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2367" y="32918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 i="0" spc="200">
                <a:solidFill>
                  <a:srgbClr val="B08D57"/>
                </a:solidFill>
                <a:latin typeface="Cambria"/>
              </a:rPr>
              <a:t>PRESENTER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2367" y="3628382"/>
            <a:ext cx="4572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en-US" sz="2400" b="0" i="0" dirty="0">
                <a:solidFill>
                  <a:srgbClr val="FFFFFF"/>
                </a:solidFill>
                <a:latin typeface="Cambria"/>
              </a:rPr>
              <a:t>Ifty </a:t>
            </a:r>
            <a:r>
              <a:rPr sz="2400" b="0" i="0" dirty="0">
                <a:solidFill>
                  <a:srgbClr val="FFFFFF"/>
                </a:solidFill>
                <a:latin typeface="Cambria"/>
              </a:rPr>
              <a:t>Rashedul Arefin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2367" y="40690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400" b="0" i="0">
                <a:solidFill>
                  <a:srgbClr val="C9D3E0"/>
                </a:solidFill>
                <a:latin typeface="Cambria"/>
              </a:rPr>
              <a:t>Student ID: 202620721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2367" y="443484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0" i="0">
                <a:solidFill>
                  <a:srgbClr val="C9D3E0"/>
                </a:solidFill>
                <a:latin typeface="Cambria"/>
                <a:ea typeface="Yu Mincho"/>
              </a:rPr>
              <a:t>理工情報生命学術院</a:t>
            </a:r>
          </a:p>
          <a:p>
            <a:pPr algn="r"/>
            <a:r>
              <a:rPr sz="1300" b="0" i="0">
                <a:solidFill>
                  <a:srgbClr val="C9D3E0"/>
                </a:solidFill>
                <a:latin typeface="Cambria"/>
                <a:ea typeface="Yu Mincho"/>
              </a:rPr>
              <a:t>システム情報工学研究群</a:t>
            </a:r>
          </a:p>
          <a:p>
            <a:pPr algn="r"/>
            <a:r>
              <a:rPr sz="1300" b="0" i="0">
                <a:solidFill>
                  <a:srgbClr val="C9D3E0"/>
                </a:solidFill>
                <a:latin typeface="Cambria"/>
                <a:ea typeface="Yu Mincho"/>
              </a:rPr>
              <a:t>情報理工学位プログラム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32918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200">
                <a:solidFill>
                  <a:srgbClr val="B08D57"/>
                </a:solidFill>
                <a:latin typeface="Cambria"/>
              </a:rPr>
              <a:t>SUPERVISOR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584448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Cambria"/>
              </a:rPr>
              <a:t>Fumio Machida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406908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C9D3E0"/>
                </a:solidFill>
                <a:latin typeface="Cambria"/>
              </a:rPr>
              <a:t>Associate Professor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4434840"/>
            <a:ext cx="45720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C9D3E0"/>
                </a:solidFill>
                <a:latin typeface="Cambria"/>
              </a:rPr>
              <a:t>Department of Systems and Information Engineering</a:t>
            </a:r>
            <a:br>
              <a:rPr lang="en-US" sz="1300" b="0" i="0" dirty="0">
                <a:solidFill>
                  <a:srgbClr val="C9D3E0"/>
                </a:solidFill>
                <a:latin typeface="Cambria"/>
              </a:rPr>
            </a:br>
            <a:r>
              <a:rPr lang="en-US" sz="1300" b="0" i="0" dirty="0">
                <a:solidFill>
                  <a:srgbClr val="C9D3E0"/>
                </a:solidFill>
                <a:latin typeface="Cambria"/>
              </a:rPr>
              <a:t>University of Tsukuba</a:t>
            </a:r>
            <a:endParaRPr sz="1300" b="0" i="0" dirty="0">
              <a:solidFill>
                <a:srgbClr val="C9D3E0"/>
              </a:solidFill>
              <a:latin typeface="Cambria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5651659"/>
            <a:ext cx="10362895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600" dirty="0">
                <a:solidFill>
                  <a:srgbClr val="C9D3E0"/>
                </a:solidFill>
                <a:latin typeface="Cambria"/>
              </a:rPr>
              <a:t>Dependable AI Systems Laboratory</a:t>
            </a:r>
          </a:p>
          <a:p>
            <a:pPr algn="ctr"/>
            <a:r>
              <a:rPr sz="1600" b="0" i="0" spc="150" dirty="0">
                <a:solidFill>
                  <a:srgbClr val="B08D57"/>
                </a:solidFill>
                <a:latin typeface="Cambria"/>
              </a:rPr>
              <a:t>University of Tsukuba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6163056"/>
            <a:ext cx="1036289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C9D3E0"/>
                </a:solidFill>
                <a:latin typeface="Cambria"/>
              </a:rPr>
              <a:t>22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1463040"/>
            <a:ext cx="92656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463040" y="1463040"/>
            <a:ext cx="914400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14630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B08D57"/>
                </a:solidFill>
                <a:latin typeface="Cambria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36192"/>
            <a:ext cx="780257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Background and Existing Studies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892808"/>
            <a:ext cx="780257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mbria"/>
              </a:rPr>
              <a:t>Entangled enhancement and the limitation of existing studies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2377440"/>
            <a:ext cx="92656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63040" y="2377440"/>
            <a:ext cx="914400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3040" y="23774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B08D57"/>
                </a:solidFill>
                <a:latin typeface="Cambria"/>
              </a:rPr>
              <a:t>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450592"/>
            <a:ext cx="780257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Objective and Research Questions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807208"/>
            <a:ext cx="780257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mbria"/>
              </a:rPr>
              <a:t>What this study investigates, and why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3291840"/>
            <a:ext cx="92656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463040" y="3291840"/>
            <a:ext cx="914400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463040" y="32918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B08D57"/>
                </a:solidFill>
                <a:latin typeface="Cambria"/>
              </a:rPr>
              <a:t>III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3364992"/>
            <a:ext cx="780257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Target Pipeline and Experimental Setup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721608"/>
            <a:ext cx="780257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mbria"/>
              </a:rPr>
              <a:t>Models, data, updates and evaluation procedure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4206240"/>
            <a:ext cx="92656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463040" y="4206240"/>
            <a:ext cx="914400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463040" y="42062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B08D57"/>
                </a:solidFill>
                <a:latin typeface="Cambria"/>
              </a:rPr>
              <a:t>IV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279392"/>
            <a:ext cx="780257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636008"/>
            <a:ext cx="780257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mbria"/>
              </a:rPr>
              <a:t>One answer for each research question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5120640"/>
            <a:ext cx="92656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463040" y="5120640"/>
            <a:ext cx="914400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463040" y="5120640"/>
            <a:ext cx="9144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B08D57"/>
                </a:solidFill>
                <a:latin typeface="Cambria"/>
              </a:rPr>
              <a:t>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5193792"/>
            <a:ext cx="780257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Conclusion and Future 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80" y="5550408"/>
            <a:ext cx="780257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mbria"/>
              </a:rPr>
              <a:t>Summary and the next step toward early detection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Background: Entangled Enhancement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 · BACKGROUND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MACHINE LEARNING SYSTEM (MLS) AS A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27632"/>
            <a:ext cx="6583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mbria"/>
              </a:rPr>
              <a:t>Each model uses the output of the upstream model before it. The models after it are downstream.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103120"/>
            <a:ext cx="150876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2194560"/>
            <a:ext cx="1508760" cy="4343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2400" b="1" i="0" baseline="-2500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54833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C9D3E0"/>
                </a:solidFill>
                <a:latin typeface="Cambria"/>
              </a:rPr>
              <a:t>Perception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2103120"/>
            <a:ext cx="150876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63240" y="2194560"/>
            <a:ext cx="1508760" cy="4343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2400" b="1" i="0" baseline="-2500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554833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C9D3E0"/>
                </a:solidFill>
                <a:latin typeface="Cambria"/>
              </a:rPr>
              <a:t>Prediction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2103120"/>
            <a:ext cx="150876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83480" y="2194560"/>
            <a:ext cx="1508760" cy="4343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2400" b="1" i="0" baseline="-2500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554833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C9D3E0"/>
                </a:solidFill>
                <a:latin typeface="Cambria"/>
              </a:rPr>
              <a:t>Planning model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2537460"/>
            <a:ext cx="45720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651760" y="2537460"/>
            <a:ext cx="41148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72000" y="2537460"/>
            <a:ext cx="41148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92240" y="2537460"/>
            <a:ext cx="50292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4360" y="21717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Cambria"/>
              </a:rPr>
              <a:t>image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1717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Cambria"/>
              </a:rPr>
              <a:t>path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897380" y="2971800"/>
            <a:ext cx="0" cy="594360"/>
          </a:xfrm>
          <a:prstGeom prst="line">
            <a:avLst/>
          </a:prstGeom>
          <a:ln w="25400">
            <a:solidFill>
              <a:srgbClr val="B08D5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007108" y="3081528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1">
                <a:solidFill>
                  <a:srgbClr val="B08D57"/>
                </a:solidFill>
                <a:latin typeface="Cambria"/>
              </a:rPr>
              <a:t>retraining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3566160"/>
            <a:ext cx="1508760" cy="868680"/>
          </a:xfrm>
          <a:prstGeom prst="rect">
            <a:avLst/>
          </a:prstGeom>
          <a:solidFill>
            <a:srgbClr val="F6F3EC"/>
          </a:solidFill>
          <a:ln w="1905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43000" y="3657600"/>
            <a:ext cx="1508760" cy="4343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B2545"/>
                </a:solidFill>
                <a:latin typeface="Cambria"/>
              </a:rPr>
              <a:t>C</a:t>
            </a:r>
            <a:r>
              <a:rPr sz="2400" b="1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2400" b="1" i="0">
                <a:solidFill>
                  <a:srgbClr val="0B2545"/>
                </a:solidFill>
                <a:latin typeface="Cambria"/>
              </a:rPr>
              <a:t>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4017873"/>
            <a:ext cx="15087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mbria"/>
              </a:rPr>
              <a:t>Updated model</a:t>
            </a:r>
          </a:p>
        </p:txBody>
      </p:sp>
      <p:sp>
        <p:nvSpPr>
          <p:cNvPr id="31" name="Isosceles Triangle 30"/>
          <p:cNvSpPr/>
          <p:nvPr/>
        </p:nvSpPr>
        <p:spPr>
          <a:xfrm>
            <a:off x="2880360" y="3749040"/>
            <a:ext cx="219456" cy="182880"/>
          </a:xfrm>
          <a:prstGeom prst="triangl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46120" y="3639312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mbria"/>
              </a:rPr>
              <a:t>The performance of C</a:t>
            </a:r>
            <a:r>
              <a:rPr sz="15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500" b="0" i="0">
                <a:solidFill>
                  <a:srgbClr val="1F2937"/>
                </a:solidFill>
                <a:latin typeface="Cambria"/>
              </a:rPr>
              <a:t>′ improves.</a:t>
            </a:r>
          </a:p>
        </p:txBody>
      </p:sp>
      <p:sp>
        <p:nvSpPr>
          <p:cNvPr id="33" name="Isosceles Triangle 32"/>
          <p:cNvSpPr/>
          <p:nvPr/>
        </p:nvSpPr>
        <p:spPr>
          <a:xfrm rot="10800000">
            <a:off x="2880360" y="4224528"/>
            <a:ext cx="219456" cy="182880"/>
          </a:xfrm>
          <a:prstGeom prst="triangle">
            <a:avLst/>
          </a:prstGeom>
          <a:solidFill>
            <a:srgbClr val="8B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46120" y="4114800"/>
            <a:ext cx="40233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8B2E2E"/>
                </a:solidFill>
                <a:latin typeface="Cambria"/>
              </a:rPr>
              <a:t>The performance of the MLS does not improve.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52360" y="1371600"/>
            <a:ext cx="4053535" cy="310896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452360" y="1371600"/>
            <a:ext cx="63500" cy="31089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0" y="1554480"/>
            <a:ext cx="35048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200">
                <a:solidFill>
                  <a:srgbClr val="B08D57"/>
                </a:solidFill>
                <a:latin typeface="Cambria"/>
              </a:rPr>
              <a:t>DEFINITION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1965960"/>
            <a:ext cx="3504895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1F2937"/>
                </a:solidFill>
                <a:latin typeface="Cambria"/>
              </a:rPr>
              <a:t>Entangled enhancement</a:t>
            </a:r>
            <a:r>
              <a:rPr sz="1900" b="0" i="0">
                <a:solidFill>
                  <a:srgbClr val="1F2937"/>
                </a:solidFill>
                <a:latin typeface="Cambria"/>
              </a:rPr>
              <a:t> is a retraining of one ML model that improves the performance of that model but fails to improve the performance of the whole MLS.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3977640"/>
            <a:ext cx="35048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mbria"/>
              </a:rPr>
              <a:t>Wang and Machida, COMPSAC 2024 and ISSRE 2025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" y="4709160"/>
            <a:ext cx="5250027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85800" y="4709160"/>
            <a:ext cx="5250027" cy="4389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4709160"/>
            <a:ext cx="4792827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First cause: adaptation of downstream models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239512"/>
            <a:ext cx="4792827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A downstream model is trained on the output of the original upstream model, including its errors. The downstream model learns to work with these errors. The retraining changes these errors.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55867" y="4709160"/>
            <a:ext cx="5250027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255867" y="4709160"/>
            <a:ext cx="5250027" cy="4389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84467" y="4709160"/>
            <a:ext cx="4792827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Second cause: uneven improvement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84467" y="5239512"/>
            <a:ext cx="4792827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The updated model improves on average. The updated model can still become worse on the inputs that matter to the downstream models.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 · BACKGROUND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7315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THE CHALLENGE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B08D57"/>
                </a:solidFill>
                <a:latin typeface="Cambr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691640"/>
            <a:ext cx="9966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Updates are routine.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039112"/>
            <a:ext cx="9966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A driving system retrains its perception model 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 when it meets new data, for example a new city.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256032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60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B08D57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514600"/>
            <a:ext cx="9966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Retraining every model has a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862072"/>
            <a:ext cx="9966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 are not always retrained after every update of 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38328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38328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B08D57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337560"/>
            <a:ext cx="9966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A better C</a:t>
            </a:r>
            <a:r>
              <a:rPr sz="1700" b="1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700" b="1" i="0">
                <a:solidFill>
                  <a:srgbClr val="0B2545"/>
                </a:solidFill>
                <a:latin typeface="Cambria"/>
              </a:rPr>
              <a:t> is not always a better pipeline.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9966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Entangled enhancement can increase the error of 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20624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B08D57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160520"/>
            <a:ext cx="9966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New data have no ground truth after deployment.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507992"/>
            <a:ext cx="99669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The error of 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 cannot be measured on new data.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074920"/>
            <a:ext cx="108200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5074920"/>
            <a:ext cx="76200" cy="9601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074920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PRIMARY</a:t>
            </a:r>
          </a:p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GOAL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5074920"/>
            <a:ext cx="8396935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mbria"/>
              </a:rPr>
              <a:t>Find out whether and how often an update that improves C</a:t>
            </a:r>
            <a:r>
              <a:rPr sz="1600" b="0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600" b="0" i="0">
                <a:solidFill>
                  <a:srgbClr val="FFFFFF"/>
                </a:solidFill>
                <a:latin typeface="Cambria"/>
              </a:rPr>
              <a:t> makes C</a:t>
            </a:r>
            <a:r>
              <a:rPr sz="1600" b="0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600" b="0" i="0">
                <a:solidFill>
                  <a:srgbClr val="FFFFFF"/>
                </a:solidFill>
                <a:latin typeface="Cambria"/>
              </a:rPr>
              <a:t> and C</a:t>
            </a:r>
            <a:r>
              <a:rPr sz="1600" b="0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600" b="0" i="0">
                <a:solidFill>
                  <a:srgbClr val="FFFFFF"/>
                </a:solidFill>
                <a:latin typeface="Cambria"/>
              </a:rPr>
              <a:t> worse, why this happens, and whether this effect can be detected without ground truth.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Existing Studies and Their Limitation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 · BACKGROUND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9678140"/>
              </p:ext>
            </p:extLst>
          </p:nvPr>
        </p:nvGraphicFramePr>
        <p:xfrm>
          <a:off x="685800" y="1371600"/>
          <a:ext cx="10820094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232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2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84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STUDY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WHAT THE STUDY SHOWS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WHAT REMAINS OPEN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B2545"/>
                          </a:solidFill>
                          <a:latin typeface="Cambria"/>
                        </a:rPr>
                        <a:t>Sculley et al.</a:t>
                      </a:r>
                    </a:p>
                    <a:p>
                      <a:pPr algn="l"/>
                      <a:r>
                        <a:rPr sz="1200" b="0" i="1">
                          <a:solidFill>
                            <a:srgbClr val="6B7280"/>
                          </a:solidFill>
                          <a:latin typeface="Cambria"/>
                        </a:rPr>
                        <a:t>NIPS 2015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A change to one model of an MLS changes the behaviour of every model that uses its output.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The study describes the risk. The study does not measure how often the risk occurs.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B2545"/>
                          </a:solidFill>
                          <a:latin typeface="Cambria"/>
                        </a:rPr>
                        <a:t>Wu et al.</a:t>
                      </a:r>
                    </a:p>
                    <a:p>
                      <a:pPr algn="l"/>
                      <a:r>
                        <a:rPr sz="1200" b="0" i="1">
                          <a:solidFill>
                            <a:srgbClr val="6B7280"/>
                          </a:solidFill>
                          <a:latin typeface="Cambria"/>
                        </a:rPr>
                        <a:t>NeurIPS 2021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Improving one model of a system can make the whole system worse.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The study does not examine a pipeline of perception, prediction and planning models.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B2545"/>
                          </a:solidFill>
                          <a:latin typeface="Cambria"/>
                        </a:rPr>
                        <a:t>Wang and Machida</a:t>
                      </a:r>
                    </a:p>
                    <a:p>
                      <a:pPr algn="l"/>
                      <a:r>
                        <a:rPr sz="1200" b="0" i="1">
                          <a:solidFill>
                            <a:srgbClr val="6B7280"/>
                          </a:solidFill>
                          <a:latin typeface="Cambria"/>
                        </a:rPr>
                        <a:t>COMPSAC 2024, ISSRE 2025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Models of when an MLS should retrain each of its ML models.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The models take the probability of entangled enhancement as an input. Nobody has measured this probability in a driving pipeline.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0B2545"/>
                          </a:solidFill>
                          <a:latin typeface="Cambria"/>
                        </a:rPr>
                        <a:t>Xu et al.</a:t>
                      </a:r>
                    </a:p>
                    <a:p>
                      <a:pPr algn="l"/>
                      <a:r>
                        <a:rPr sz="1200" b="0" i="1">
                          <a:solidFill>
                            <a:srgbClr val="6B7280"/>
                          </a:solidFill>
                          <a:latin typeface="Cambria"/>
                        </a:rPr>
                        <a:t>ICRA 2024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2937"/>
                          </a:solidFill>
                          <a:latin typeface="Cambria"/>
                        </a:rPr>
                        <a:t>The prediction error increases when the input comes from a real perception model instead of the ground truth, which is the objects labelled by hand.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 dirty="0">
                          <a:solidFill>
                            <a:srgbClr val="1F2937"/>
                          </a:solidFill>
                          <a:latin typeface="Cambria"/>
                        </a:rPr>
                        <a:t>The study does not examine a retraining of the perception model.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4892040"/>
            <a:ext cx="10820095" cy="10972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762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4892040"/>
            <a:ext cx="18288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 spc="200">
                <a:solidFill>
                  <a:srgbClr val="B08D57"/>
                </a:solidFill>
                <a:latin typeface="Cambria"/>
              </a:rPr>
              <a:t>RESEARCH</a:t>
            </a:r>
          </a:p>
          <a:p>
            <a:pPr algn="l"/>
            <a:r>
              <a:rPr sz="1500" b="1" i="0" spc="200">
                <a:solidFill>
                  <a:srgbClr val="B08D57"/>
                </a:solidFill>
                <a:latin typeface="Cambria"/>
              </a:rPr>
              <a:t>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4892040"/>
            <a:ext cx="8168335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mbria"/>
              </a:rPr>
              <a:t>No existing study measures how often entangled enhancement occurs in an autonomous driving pipeline of ML models, or which of the two causes produces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Objective and 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 · OBJECTIVE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10820095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325880"/>
            <a:ext cx="762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5544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spc="200">
                <a:solidFill>
                  <a:srgbClr val="B08D57"/>
                </a:solidFill>
                <a:latin typeface="Cambria"/>
              </a:rPr>
              <a:t>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325880"/>
            <a:ext cx="862553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 i="0">
                <a:solidFill>
                  <a:srgbClr val="1F2937"/>
                </a:solidFill>
                <a:latin typeface="Cambria"/>
              </a:rPr>
              <a:t>In this study, we empirically investigate whether a retraining that improves the perception model C</a:t>
            </a:r>
            <a:r>
              <a:rPr sz="17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700" b="0" i="0">
                <a:solidFill>
                  <a:srgbClr val="1F2937"/>
                </a:solidFill>
                <a:latin typeface="Cambria"/>
              </a:rPr>
              <a:t> increases the error of the prediction model C</a:t>
            </a:r>
            <a:r>
              <a:rPr sz="17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700" b="0" i="0">
                <a:solidFill>
                  <a:srgbClr val="1F2937"/>
                </a:solidFill>
                <a:latin typeface="Cambria"/>
              </a:rPr>
              <a:t> and the planning model C</a:t>
            </a:r>
            <a:r>
              <a:rPr sz="17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70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468880"/>
            <a:ext cx="3423818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2468880"/>
            <a:ext cx="3423818" cy="4389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468880"/>
            <a:ext cx="305805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150">
                <a:solidFill>
                  <a:srgbClr val="B08D57"/>
                </a:solidFill>
                <a:latin typeface="Cambria"/>
              </a:rPr>
              <a:t>RQ1 · OCCURRENCE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017520"/>
            <a:ext cx="305805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Does a retraining that improves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 increase the error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2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 or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3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840480"/>
            <a:ext cx="305805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B08D57"/>
                </a:solidFill>
                <a:latin typeface="Cambria"/>
              </a:rPr>
              <a:t>WHY WE 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096512"/>
            <a:ext cx="30580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The models of Wang and Machida need the probability of entangled enhancement. Nobody has measured this probability in a driving pipeline.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5528" y="5148072"/>
            <a:ext cx="3204362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5528" y="5148072"/>
            <a:ext cx="508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5148072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B08D57"/>
                </a:solidFill>
                <a:latin typeface="Cambria"/>
              </a:rPr>
              <a:t>H1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93792"/>
            <a:ext cx="2463698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1">
                <a:solidFill>
                  <a:srgbClr val="1F2937"/>
                </a:solidFill>
                <a:latin typeface="Cambria"/>
              </a:rPr>
              <a:t>A retraining that improves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can increase the prediction error or the planning error.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3938" y="2468880"/>
            <a:ext cx="3423818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83938" y="2468880"/>
            <a:ext cx="3423818" cy="4389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66818" y="2468880"/>
            <a:ext cx="305805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150">
                <a:solidFill>
                  <a:srgbClr val="B08D57"/>
                </a:solidFill>
                <a:latin typeface="Cambria"/>
              </a:rPr>
              <a:t>RQ2 · CAUSE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6818" y="3017520"/>
            <a:ext cx="305805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Does the increase come from the adaptation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2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 and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3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 to the errors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6818" y="3840480"/>
            <a:ext cx="305805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B08D57"/>
                </a:solidFill>
                <a:latin typeface="Cambria"/>
              </a:rPr>
              <a:t>WHY WE 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6818" y="4096512"/>
            <a:ext cx="30580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Only training on the output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lets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learn the errors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. If this adaptation is the cause, retraining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again can remove the increase.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93666" y="5148072"/>
            <a:ext cx="3204362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493666" y="5148072"/>
            <a:ext cx="508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58258" y="5148072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B08D57"/>
                </a:solidFill>
                <a:latin typeface="Cambria"/>
              </a:rPr>
              <a:t>H2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5458" y="5193792"/>
            <a:ext cx="2463698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1">
                <a:solidFill>
                  <a:srgbClr val="1F2937"/>
                </a:solidFill>
                <a:latin typeface="Cambria"/>
              </a:rPr>
              <a:t>The increase is larger when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and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are trained on the output of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than on the ground truth.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82076" y="2468880"/>
            <a:ext cx="3423818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082076" y="2468880"/>
            <a:ext cx="3423818" cy="4389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64956" y="2468880"/>
            <a:ext cx="305805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150">
                <a:solidFill>
                  <a:srgbClr val="B08D57"/>
                </a:solidFill>
                <a:latin typeface="Cambria"/>
              </a:rPr>
              <a:t>RQ3 · DETECTION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4956" y="3017520"/>
            <a:ext cx="305805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Can we detect entangled enhancement without ground truth?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4956" y="3840480"/>
            <a:ext cx="305805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B08D57"/>
                </a:solidFill>
                <a:latin typeface="Cambria"/>
              </a:rPr>
              <a:t>WHY WE 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4956" y="4096512"/>
            <a:ext cx="305805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After deployment, new data have no ground truth. A larger change in the input of a model can cause a larger increase of its error.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91804" y="5148072"/>
            <a:ext cx="3204362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91804" y="5148072"/>
            <a:ext cx="508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56396" y="5148072"/>
            <a:ext cx="4572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B08D57"/>
                </a:solidFill>
                <a:latin typeface="Cambria"/>
              </a:rPr>
              <a:t>H3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13596" y="5193792"/>
            <a:ext cx="2463698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1">
                <a:solidFill>
                  <a:srgbClr val="1F2937"/>
                </a:solidFill>
                <a:latin typeface="Cambria"/>
              </a:rPr>
              <a:t>Retrainings with entangled enhancement change the outputs of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and C</a:t>
            </a:r>
            <a:r>
              <a:rPr sz="1300" b="0" i="1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1">
                <a:solidFill>
                  <a:srgbClr val="1F2937"/>
                </a:solidFill>
                <a:latin typeface="Cambria"/>
              </a:rPr>
              <a:t> more than other retrainings.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Target Pipeline and 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III ·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AUTONOMOUS DRIVING PIPELINE OF THREE ML MODELS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1188720" cy="1051560"/>
          </a:xfrm>
          <a:prstGeom prst="rect">
            <a:avLst/>
          </a:prstGeom>
          <a:solidFill>
            <a:srgbClr val="F6F3EC"/>
          </a:solidFill>
          <a:ln w="1270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240280"/>
            <a:ext cx="118872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0B2545"/>
                </a:solidFill>
                <a:latin typeface="Cambria"/>
              </a:rPr>
              <a:t>Front-camera</a:t>
            </a:r>
          </a:p>
          <a:p>
            <a:pPr algn="ctr"/>
            <a:r>
              <a:rPr sz="1400" b="1" i="0">
                <a:solidFill>
                  <a:srgbClr val="0B2545"/>
                </a:solidFill>
                <a:latin typeface="Cambria"/>
              </a:rPr>
              <a:t>image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1691640"/>
            <a:ext cx="2880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94560" y="1691640"/>
            <a:ext cx="2880360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59152" y="1691640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Perception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2240280"/>
            <a:ext cx="255117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0B2545"/>
                </a:solidFill>
                <a:latin typeface="Cambria"/>
              </a:rPr>
              <a:t>YOLOv11n object detector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59152" y="2606040"/>
            <a:ext cx="548640" cy="1905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59152" y="2715768"/>
            <a:ext cx="2551176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F2937"/>
                </a:solidFill>
                <a:latin typeface="Cambria"/>
              </a:rPr>
              <a:t>Output: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objects with class, position and confidence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874520" y="2811780"/>
            <a:ext cx="32004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394960" y="1691640"/>
            <a:ext cx="2880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94960" y="1691640"/>
            <a:ext cx="2880360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59552" y="1691640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Prediction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2240280"/>
            <a:ext cx="255117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0B2545"/>
                </a:solidFill>
                <a:latin typeface="Cambria"/>
              </a:rPr>
              <a:t>AutoBot-Ego style transformer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59552" y="2606040"/>
            <a:ext cx="548640" cy="1905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559552" y="2715768"/>
            <a:ext cx="2551176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F2937"/>
                </a:solidFill>
                <a:latin typeface="Cambria"/>
              </a:rPr>
              <a:t>Input: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objects in the last four labelled images (1.5 s)</a:t>
            </a:r>
          </a:p>
          <a:p>
            <a:pPr algn="l"/>
            <a:r>
              <a:rPr sz="1250" b="1" i="0">
                <a:solidFill>
                  <a:srgbClr val="1F2937"/>
                </a:solidFill>
                <a:latin typeface="Cambria"/>
              </a:rPr>
              <a:t>Output: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six possible paths of 3 s for each object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74920" y="2811780"/>
            <a:ext cx="32004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8595360" y="1691640"/>
            <a:ext cx="28803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595360" y="1691640"/>
            <a:ext cx="2880360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759952" y="1691640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Planning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59952" y="2240280"/>
            <a:ext cx="2551176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0B2545"/>
                </a:solidFill>
                <a:latin typeface="Cambria"/>
              </a:rPr>
              <a:t>PlanT style transformer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59952" y="2606040"/>
            <a:ext cx="548640" cy="1905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59952" y="2715768"/>
            <a:ext cx="2551176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F2937"/>
                </a:solidFill>
                <a:latin typeface="Cambria"/>
              </a:rPr>
              <a:t>Input: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objects with their most likely path, driving command, path of the ego vehicle over the last 1.5 s (ego path)</a:t>
            </a:r>
          </a:p>
          <a:p>
            <a:pPr algn="l"/>
            <a:r>
              <a:rPr sz="1250" b="1" i="0">
                <a:solidFill>
                  <a:srgbClr val="1F2937"/>
                </a:solidFill>
                <a:latin typeface="Cambria"/>
              </a:rPr>
              <a:t>Output: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planned path of the ego vehicle for 3 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75320" y="2811780"/>
            <a:ext cx="32004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39776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NOTATION FOR ONE RETRAINING OF C</a:t>
            </a:r>
            <a:r>
              <a:rPr sz="1200" b="1" i="0" spc="150" baseline="-25000">
                <a:solidFill>
                  <a:srgbClr val="B08D57"/>
                </a:solidFill>
                <a:latin typeface="Cambria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4389120"/>
            <a:ext cx="2423160" cy="17830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4480560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B08D57"/>
                </a:solidFill>
                <a:latin typeface="Cambria"/>
              </a:rPr>
              <a:t>δ</a:t>
            </a:r>
            <a:r>
              <a:rPr sz="2800" b="1" i="0" baseline="-25000">
                <a:solidFill>
                  <a:srgbClr val="B08D57"/>
                </a:solidFill>
                <a:latin typeface="Cambria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047488"/>
            <a:ext cx="21031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Gain of C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in mAP50, the standard accuracy measure of object detection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4389120"/>
            <a:ext cx="2423160" cy="17830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520440" y="4480560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B08D57"/>
                </a:solidFill>
                <a:latin typeface="Cambria"/>
              </a:rPr>
              <a:t>Δ</a:t>
            </a:r>
            <a:r>
              <a:rPr sz="2800" b="1" i="0" baseline="-25000">
                <a:solidFill>
                  <a:srgbClr val="B08D57"/>
                </a:solidFill>
                <a:latin typeface="Cambria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5047488"/>
            <a:ext cx="21031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Increase of the prediction error minADE: distance between the predicted and the true path, for the best of the six paths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4389120"/>
            <a:ext cx="2423160" cy="17830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72200" y="4480560"/>
            <a:ext cx="10972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B08D57"/>
                </a:solidFill>
                <a:latin typeface="Cambria"/>
              </a:rPr>
              <a:t>Δ</a:t>
            </a:r>
            <a:r>
              <a:rPr sz="2800" b="1" i="0" baseline="-25000">
                <a:solidFill>
                  <a:srgbClr val="B08D57"/>
                </a:solidFill>
                <a:latin typeface="Cambria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5047488"/>
            <a:ext cx="21031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Increase of the planning error: distance between the planned position and the position of the human driver at 3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41080" y="4389120"/>
            <a:ext cx="2864815" cy="17830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641080" y="4389120"/>
            <a:ext cx="2864815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869680" y="4526280"/>
            <a:ext cx="240761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ENTANGLED ENHANCEMENT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4846320"/>
            <a:ext cx="24076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C9D3E0"/>
                </a:solidFill>
                <a:latin typeface="Cambria"/>
              </a:rPr>
              <a:t>A retraining shows entangled enhancement when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2520" y="5257800"/>
            <a:ext cx="268193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mbria"/>
              </a:rPr>
              <a:t>δ</a:t>
            </a:r>
            <a:r>
              <a:rPr sz="19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900" b="1" i="0">
                <a:solidFill>
                  <a:srgbClr val="FFFFFF"/>
                </a:solidFill>
                <a:latin typeface="Cambria"/>
              </a:rPr>
              <a:t> &gt; 0   and</a:t>
            </a:r>
          </a:p>
          <a:p>
            <a:pPr algn="ctr"/>
            <a:r>
              <a:rPr sz="1900" b="1" i="0">
                <a:solidFill>
                  <a:srgbClr val="FFFFFF"/>
                </a:solidFill>
                <a:latin typeface="Cambria"/>
              </a:rPr>
              <a:t>(Δ</a:t>
            </a:r>
            <a:r>
              <a:rPr sz="19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900" b="1" i="0">
                <a:solidFill>
                  <a:srgbClr val="FFFFFF"/>
                </a:solidFill>
                <a:latin typeface="Cambria"/>
              </a:rPr>
              <a:t> &gt; 0   or   Δ</a:t>
            </a:r>
            <a:r>
              <a:rPr sz="1900" b="1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900" b="1" i="0">
                <a:solidFill>
                  <a:srgbClr val="FFFFFF"/>
                </a:solidFill>
                <a:latin typeface="Cambria"/>
              </a:rPr>
              <a:t> &gt; 0)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Two Training Modes of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 and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III ·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417320"/>
            <a:ext cx="2331720" cy="10972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417320"/>
            <a:ext cx="635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5270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100">
                <a:solidFill>
                  <a:srgbClr val="B08D57"/>
                </a:solidFill>
                <a:latin typeface="Cambria"/>
              </a:rPr>
              <a:t>GT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874520"/>
            <a:ext cx="2011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C9D3E0"/>
                </a:solidFill>
                <a:latin typeface="Cambria"/>
              </a:rPr>
              <a:t>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2</a:t>
            </a:r>
            <a:r>
              <a:rPr sz="1250" b="0" i="1">
                <a:solidFill>
                  <a:srgbClr val="C9D3E0"/>
                </a:solidFill>
                <a:latin typeface="Cambria"/>
              </a:rPr>
              <a:t> and 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3</a:t>
            </a:r>
            <a:r>
              <a:rPr sz="1250" b="0" i="1">
                <a:solidFill>
                  <a:srgbClr val="C9D3E0"/>
                </a:solidFill>
                <a:latin typeface="Cambria"/>
              </a:rPr>
              <a:t> never see</a:t>
            </a:r>
          </a:p>
          <a:p>
            <a:pPr algn="l"/>
            <a:r>
              <a:rPr sz="1250" b="0" i="1">
                <a:solidFill>
                  <a:srgbClr val="C9D3E0"/>
                </a:solidFill>
                <a:latin typeface="Cambria"/>
              </a:rPr>
              <a:t>the errors of 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417320"/>
            <a:ext cx="2103120" cy="1097280"/>
          </a:xfrm>
          <a:prstGeom prst="rect">
            <a:avLst/>
          </a:prstGeom>
          <a:solidFill>
            <a:srgbClr val="F6F3EC"/>
          </a:solidFill>
          <a:ln w="1270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47288" y="1417320"/>
            <a:ext cx="1883664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mbria"/>
              </a:rPr>
              <a:t>Ground truth (GT)</a:t>
            </a:r>
          </a:p>
          <a:p>
            <a:pPr algn="ctr"/>
            <a:r>
              <a:rPr sz="1400" b="0" i="0">
                <a:solidFill>
                  <a:srgbClr val="1F2937"/>
                </a:solidFill>
                <a:latin typeface="Cambria"/>
              </a:rPr>
              <a:t>objects labelled by hand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1417320"/>
            <a:ext cx="21031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16168" y="1417320"/>
            <a:ext cx="1883664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mbria"/>
              </a:rPr>
              <a:t>Train C</a:t>
            </a:r>
            <a:r>
              <a:rPr sz="1400" b="1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400" b="1" i="0">
                <a:solidFill>
                  <a:srgbClr val="1F2937"/>
                </a:solidFill>
                <a:latin typeface="Cambria"/>
              </a:rPr>
              <a:t> and C</a:t>
            </a:r>
            <a:r>
              <a:rPr sz="1400" b="1" i="0" baseline="-25000">
                <a:solidFill>
                  <a:srgbClr val="1F2937"/>
                </a:solidFill>
                <a:latin typeface="Cambria"/>
              </a:rPr>
              <a:t>3</a:t>
            </a:r>
          </a:p>
          <a:p>
            <a:pPr algn="ctr"/>
            <a:r>
              <a:rPr sz="1400" b="0" i="0">
                <a:solidFill>
                  <a:srgbClr val="1F2937"/>
                </a:solidFill>
                <a:latin typeface="Cambria"/>
              </a:rPr>
              <a:t>then keep them fixed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40680" y="1965960"/>
            <a:ext cx="36576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09560" y="1965960"/>
            <a:ext cx="41148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788920"/>
            <a:ext cx="2331720" cy="10972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2788920"/>
            <a:ext cx="635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289864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 spc="100">
                <a:solidFill>
                  <a:srgbClr val="B08D57"/>
                </a:solidFill>
                <a:latin typeface="Cambria"/>
              </a:rPr>
              <a:t>C</a:t>
            </a:r>
            <a:r>
              <a:rPr sz="1300" b="1" i="0" spc="100" baseline="-25000">
                <a:solidFill>
                  <a:srgbClr val="B08D57"/>
                </a:solidFill>
                <a:latin typeface="Cambria"/>
              </a:rPr>
              <a:t>1</a:t>
            </a:r>
            <a:r>
              <a:rPr sz="1300" b="1" i="0" spc="100">
                <a:solidFill>
                  <a:srgbClr val="B08D57"/>
                </a:solidFill>
                <a:latin typeface="Cambria"/>
              </a:rPr>
              <a:t>-OUTPUT 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246120"/>
            <a:ext cx="20116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C9D3E0"/>
                </a:solidFill>
                <a:latin typeface="Cambria"/>
              </a:rPr>
              <a:t>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2</a:t>
            </a:r>
            <a:r>
              <a:rPr sz="1250" b="0" i="1">
                <a:solidFill>
                  <a:srgbClr val="C9D3E0"/>
                </a:solidFill>
                <a:latin typeface="Cambria"/>
              </a:rPr>
              <a:t> and 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3</a:t>
            </a:r>
            <a:r>
              <a:rPr sz="1250" b="0" i="1">
                <a:solidFill>
                  <a:srgbClr val="C9D3E0"/>
                </a:solidFill>
                <a:latin typeface="Cambria"/>
              </a:rPr>
              <a:t> learn</a:t>
            </a:r>
          </a:p>
          <a:p>
            <a:pPr algn="l"/>
            <a:r>
              <a:rPr sz="1250" b="0" i="1">
                <a:solidFill>
                  <a:srgbClr val="C9D3E0"/>
                </a:solidFill>
                <a:latin typeface="Cambria"/>
              </a:rPr>
              <a:t>the errors of C</a:t>
            </a:r>
            <a:r>
              <a:rPr sz="1250" b="0" i="1" baseline="-25000">
                <a:solidFill>
                  <a:srgbClr val="C9D3E0"/>
                </a:solidFill>
                <a:latin typeface="Cambria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2788920"/>
            <a:ext cx="2103120" cy="1097280"/>
          </a:xfrm>
          <a:prstGeom prst="rect">
            <a:avLst/>
          </a:prstGeom>
          <a:solidFill>
            <a:srgbClr val="F6F3EC"/>
          </a:solidFill>
          <a:ln w="1270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47288" y="2788920"/>
            <a:ext cx="1883664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mbria"/>
              </a:rPr>
              <a:t>Output of C</a:t>
            </a:r>
            <a:r>
              <a:rPr sz="1400" b="1" i="0" baseline="-25000">
                <a:solidFill>
                  <a:srgbClr val="1F2937"/>
                </a:solidFill>
                <a:latin typeface="Cambria"/>
              </a:rPr>
              <a:t>1</a:t>
            </a:r>
          </a:p>
          <a:p>
            <a:pPr algn="ctr"/>
            <a:r>
              <a:rPr sz="1400" b="0" i="0">
                <a:solidFill>
                  <a:srgbClr val="1F2937"/>
                </a:solidFill>
                <a:latin typeface="Cambria"/>
              </a:rPr>
              <a:t>including its errors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06440" y="2788920"/>
            <a:ext cx="21031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16168" y="2788920"/>
            <a:ext cx="1883664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mbria"/>
              </a:rPr>
              <a:t>Train C</a:t>
            </a:r>
            <a:r>
              <a:rPr sz="1400" b="1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400" b="1" i="0">
                <a:solidFill>
                  <a:srgbClr val="1F2937"/>
                </a:solidFill>
                <a:latin typeface="Cambria"/>
              </a:rPr>
              <a:t> and C</a:t>
            </a:r>
            <a:r>
              <a:rPr sz="1400" b="1" i="0" baseline="-25000">
                <a:solidFill>
                  <a:srgbClr val="1F2937"/>
                </a:solidFill>
                <a:latin typeface="Cambria"/>
              </a:rPr>
              <a:t>3</a:t>
            </a:r>
          </a:p>
          <a:p>
            <a:pPr algn="ctr"/>
            <a:r>
              <a:rPr sz="1400" b="0" i="0">
                <a:solidFill>
                  <a:srgbClr val="1F2937"/>
                </a:solidFill>
                <a:latin typeface="Cambria"/>
              </a:rPr>
              <a:t>then keep them fixed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40680" y="3337560"/>
            <a:ext cx="36576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09560" y="3337560"/>
            <a:ext cx="411480" cy="0"/>
          </a:xfrm>
          <a:prstGeom prst="line">
            <a:avLst/>
          </a:prstGeom>
          <a:ln w="22225">
            <a:solidFill>
              <a:srgbClr val="0B25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321040" y="1417320"/>
            <a:ext cx="3184855" cy="24688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321040" y="1417320"/>
            <a:ext cx="3184855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49640" y="1600200"/>
            <a:ext cx="272765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TEST AFTER EACH RETRAINING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2011680"/>
            <a:ext cx="2727655" cy="12498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endParaRPr lang="en-US" sz="1500" b="0" i="0" dirty="0">
              <a:solidFill>
                <a:srgbClr val="FFFFFF"/>
              </a:solidFill>
              <a:latin typeface="Cambria"/>
            </a:endParaRPr>
          </a:p>
          <a:p>
            <a:pPr algn="l">
              <a:lnSpc>
                <a:spcPct val="110000"/>
              </a:lnSpc>
            </a:pPr>
            <a:r>
              <a:rPr sz="1500" b="0" i="0" dirty="0">
                <a:solidFill>
                  <a:srgbClr val="FFFFFF"/>
                </a:solidFill>
                <a:latin typeface="Cambria"/>
              </a:rPr>
              <a:t>Both versions of C</a:t>
            </a:r>
            <a:r>
              <a:rPr sz="1500" b="0" i="0" baseline="-25000" dirty="0">
                <a:solidFill>
                  <a:srgbClr val="FFFFFF"/>
                </a:solidFill>
                <a:latin typeface="Cambria"/>
              </a:rPr>
              <a:t>2</a:t>
            </a:r>
            <a:r>
              <a:rPr sz="1500" b="0" i="0" dirty="0">
                <a:solidFill>
                  <a:srgbClr val="FFFFFF"/>
                </a:solidFill>
                <a:latin typeface="Cambria"/>
              </a:rPr>
              <a:t> and C</a:t>
            </a:r>
            <a:r>
              <a:rPr sz="1500" b="0" i="0" baseline="-25000" dirty="0">
                <a:solidFill>
                  <a:srgbClr val="FFFFFF"/>
                </a:solidFill>
                <a:latin typeface="Cambria"/>
              </a:rPr>
              <a:t>3</a:t>
            </a:r>
            <a:r>
              <a:rPr sz="1500" b="0" i="0" dirty="0">
                <a:solidFill>
                  <a:srgbClr val="FFFFFF"/>
                </a:solidFill>
                <a:latin typeface="Cambria"/>
              </a:rPr>
              <a:t> receive the output of the same C</a:t>
            </a:r>
            <a:r>
              <a:rPr sz="1500" b="0" i="0" baseline="-25000" dirty="0">
                <a:solidFill>
                  <a:srgbClr val="FFFFFF"/>
                </a:solidFill>
                <a:latin typeface="Cambria"/>
              </a:rPr>
              <a:t>1</a:t>
            </a:r>
            <a:r>
              <a:rPr sz="1500" b="0" i="0" dirty="0">
                <a:solidFill>
                  <a:srgbClr val="FFFFFF"/>
                </a:solidFill>
                <a:latin typeface="Cambria"/>
              </a:rPr>
              <a:t>′ on the same test scenes.</a:t>
            </a:r>
          </a:p>
          <a:p>
            <a:pPr algn="l">
              <a:lnSpc>
                <a:spcPct val="110000"/>
              </a:lnSpc>
            </a:pPr>
            <a:r>
              <a:rPr sz="1500" b="0" i="0" dirty="0">
                <a:solidFill>
                  <a:srgbClr val="FFFFFF"/>
                </a:solidFill>
                <a:latin typeface="Cambria"/>
              </a:rPr>
              <a:t>Only the training differs.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160520"/>
            <a:ext cx="10820095" cy="196596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85800" y="4160520"/>
            <a:ext cx="76200" cy="19659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5840" y="42976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HOW WE READ THE COMPARISON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70916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Cambria"/>
              </a:rPr>
              <a:t>The error increases only after C</a:t>
            </a:r>
            <a:r>
              <a:rPr sz="16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600" b="0" i="0">
                <a:solidFill>
                  <a:srgbClr val="1F2937"/>
                </a:solidFill>
                <a:latin typeface="Cambria"/>
              </a:rPr>
              <a:t>-output training.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470916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B08D57"/>
                </a:solidFill>
                <a:latin typeface="Cambria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709160"/>
            <a:ext cx="505937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First cause:</a:t>
            </a:r>
            <a:r>
              <a:rPr sz="1600" b="0" i="0">
                <a:solidFill>
                  <a:srgbClr val="0B2545"/>
                </a:solidFill>
                <a:latin typeface="Cambria"/>
              </a:rPr>
              <a:t> adaptation of C</a:t>
            </a:r>
            <a:r>
              <a:rPr sz="1600" b="0" i="0" baseline="-25000">
                <a:solidFill>
                  <a:srgbClr val="0B2545"/>
                </a:solidFill>
                <a:latin typeface="Cambria"/>
              </a:rPr>
              <a:t>2</a:t>
            </a:r>
            <a:r>
              <a:rPr sz="1600" b="0" i="0">
                <a:solidFill>
                  <a:srgbClr val="0B2545"/>
                </a:solidFill>
                <a:latin typeface="Cambria"/>
              </a:rPr>
              <a:t> and C</a:t>
            </a:r>
            <a:r>
              <a:rPr sz="1600" b="0" i="0" baseline="-25000">
                <a:solidFill>
                  <a:srgbClr val="0B2545"/>
                </a:solidFill>
                <a:latin typeface="Cambria"/>
              </a:rPr>
              <a:t>3</a:t>
            </a:r>
            <a:r>
              <a:rPr sz="1600" b="0" i="0">
                <a:solidFill>
                  <a:srgbClr val="0B2545"/>
                </a:solidFill>
                <a:latin typeface="Cambria"/>
              </a:rPr>
              <a:t> to the errors of C</a:t>
            </a:r>
            <a:r>
              <a:rPr sz="1600" b="0" i="0" baseline="-25000">
                <a:solidFill>
                  <a:srgbClr val="0B2545"/>
                </a:solidFill>
                <a:latin typeface="Cambria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49240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Cambria"/>
              </a:rPr>
              <a:t>The error increases after both training modes.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5349240"/>
            <a:ext cx="548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B08D57"/>
                </a:solidFill>
                <a:latin typeface="Cambria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349240"/>
            <a:ext cx="505937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Second cause:</a:t>
            </a:r>
            <a:r>
              <a:rPr sz="1600" b="0" i="0">
                <a:solidFill>
                  <a:srgbClr val="0B2545"/>
                </a:solidFill>
                <a:latin typeface="Cambria"/>
              </a:rPr>
              <a:t> uneven improvement of C</a:t>
            </a:r>
            <a:r>
              <a:rPr sz="1600" b="0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600" b="0" i="0">
                <a:solidFill>
                  <a:srgbClr val="0B2545"/>
                </a:solidFill>
                <a:latin typeface="Cambria"/>
              </a:rPr>
              <a:t>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III ·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626364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DATA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72768"/>
            <a:ext cx="6263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1" dirty="0">
                <a:solidFill>
                  <a:srgbClr val="1F2937"/>
                </a:solidFill>
                <a:latin typeface="Cambria"/>
              </a:rPr>
              <a:t>350 of the 850 scenes of </a:t>
            </a:r>
            <a:r>
              <a:rPr sz="1350" b="0" i="1" dirty="0" err="1">
                <a:solidFill>
                  <a:srgbClr val="1F2937"/>
                </a:solidFill>
                <a:latin typeface="Cambria"/>
              </a:rPr>
              <a:t>nuScenes</a:t>
            </a:r>
            <a:r>
              <a:rPr sz="1350" b="0" i="1" dirty="0">
                <a:solidFill>
                  <a:srgbClr val="1F2937"/>
                </a:solidFill>
                <a:latin typeface="Cambria"/>
              </a:rPr>
              <a:t> (driving clips of about 20 s), front camera only, 4.6 GB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103120"/>
            <a:ext cx="3017520" cy="146304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2103120"/>
            <a:ext cx="3017520" cy="365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1031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FFFFFF"/>
                </a:solidFill>
                <a:latin typeface="Cambria"/>
              </a:rPr>
              <a:t>BOSTON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031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50" b="0" i="1">
                <a:solidFill>
                  <a:srgbClr val="FFFFFF"/>
                </a:solidFill>
                <a:latin typeface="Cambria"/>
              </a:rPr>
              <a:t>100 scenes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Training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44368"/>
            <a:ext cx="265176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 dirty="0">
                <a:solidFill>
                  <a:srgbClr val="6B7280"/>
                </a:solidFill>
                <a:latin typeface="Cambria"/>
              </a:rPr>
              <a:t>Two original C</a:t>
            </a:r>
            <a:r>
              <a:rPr sz="1200" b="0" i="1" baseline="-25000" dirty="0">
                <a:solidFill>
                  <a:srgbClr val="6B7280"/>
                </a:solidFill>
                <a:latin typeface="Cambria"/>
              </a:rPr>
              <a:t>1</a:t>
            </a:r>
            <a:r>
              <a:rPr sz="1200" b="0" i="1" dirty="0">
                <a:solidFill>
                  <a:srgbClr val="6B7280"/>
                </a:solidFill>
                <a:latin typeface="Cambria"/>
              </a:rPr>
              <a:t>, with random seed 0 and </a:t>
            </a:r>
            <a:r>
              <a:rPr lang="en-US" sz="1200" b="0" i="1" dirty="0">
                <a:solidFill>
                  <a:srgbClr val="6B7280"/>
                </a:solidFill>
                <a:latin typeface="Cambria"/>
              </a:rPr>
              <a:t>seed </a:t>
            </a:r>
            <a:r>
              <a:rPr sz="1200" b="0" i="1" dirty="0">
                <a:solidFill>
                  <a:srgbClr val="6B7280"/>
                </a:solidFill>
                <a:latin typeface="Cambria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2103120"/>
            <a:ext cx="3017520" cy="146304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931920" y="2103120"/>
            <a:ext cx="3017520" cy="365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0" y="21031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FFFFFF"/>
                </a:solidFill>
                <a:latin typeface="Cambria"/>
              </a:rPr>
              <a:t>BOSTON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1031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50" b="0" i="1">
                <a:solidFill>
                  <a:srgbClr val="FFFFFF"/>
                </a:solidFill>
                <a:latin typeface="Cambria"/>
              </a:rPr>
              <a:t>100 scenes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5603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Training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2</a:t>
            </a:r>
            <a:r>
              <a:rPr sz="1600" b="1" i="0">
                <a:solidFill>
                  <a:srgbClr val="0B2545"/>
                </a:solidFill>
                <a:latin typeface="Cambria"/>
              </a:rPr>
              <a:t> and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944368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mbria"/>
              </a:rPr>
              <a:t>86 training and 14 validation scenes, separate from Boston 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67328"/>
            <a:ext cx="3017520" cy="146304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5800" y="3767328"/>
            <a:ext cx="3017520" cy="3657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37673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FFFFFF"/>
                </a:solidFill>
                <a:latin typeface="Cambria"/>
              </a:rPr>
              <a:t>SINGAPORE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7673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50" b="0" i="1">
                <a:solidFill>
                  <a:srgbClr val="FFFFFF"/>
                </a:solidFill>
                <a:latin typeface="Cambria"/>
              </a:rPr>
              <a:t>100 scenes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2245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Retraining of C</a:t>
            </a:r>
            <a:r>
              <a:rPr sz="1600" b="1" i="0" baseline="-25000">
                <a:solidFill>
                  <a:srgbClr val="0B2545"/>
                </a:solidFill>
                <a:latin typeface="Cambria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608576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mbria"/>
              </a:rPr>
              <a:t>A new city, as in an update after deployment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3767328"/>
            <a:ext cx="3017520" cy="146304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931920" y="3767328"/>
            <a:ext cx="3017520" cy="3657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0" y="37673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FFFFFF"/>
                </a:solidFill>
                <a:latin typeface="Cambria"/>
              </a:rPr>
              <a:t>SINGAPORE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7673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50" b="0" i="1">
                <a:solidFill>
                  <a:srgbClr val="FFFFFF"/>
                </a:solidFill>
                <a:latin typeface="Cambria"/>
              </a:rPr>
              <a:t>50 scenes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4224528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mbria"/>
              </a:rPr>
              <a:t>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4608576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mbria"/>
              </a:rPr>
              <a:t>1,720 test samples, one per labelled image with 3 s of future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1280160"/>
            <a:ext cx="41906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315200" y="1280160"/>
            <a:ext cx="4190695" cy="4114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98080" y="1280160"/>
            <a:ext cx="3824935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RETRAININGS OF C</a:t>
            </a:r>
            <a:r>
              <a:rPr sz="1250" b="1" i="0" spc="150" baseline="-25000">
                <a:solidFill>
                  <a:srgbClr val="B08D57"/>
                </a:solidFill>
                <a:latin typeface="Cambria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0" y="1783080"/>
            <a:ext cx="10972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 i="0">
                <a:solidFill>
                  <a:srgbClr val="B08D57"/>
                </a:solidFill>
                <a:latin typeface="Cambria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1810512"/>
            <a:ext cx="2819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0B2545"/>
                </a:solidFill>
                <a:latin typeface="Cambria"/>
              </a:rPr>
              <a:t>retrainings</a:t>
            </a:r>
          </a:p>
          <a:p>
            <a:pPr algn="l"/>
            <a:r>
              <a:rPr sz="1500" b="1" i="0">
                <a:solidFill>
                  <a:srgbClr val="0B2545"/>
                </a:solidFill>
                <a:latin typeface="Cambria"/>
              </a:rPr>
              <a:t>= 2 original C</a:t>
            </a:r>
            <a:r>
              <a:rPr sz="1500" b="1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500" b="1" i="0">
                <a:solidFill>
                  <a:srgbClr val="0B2545"/>
                </a:solidFill>
                <a:latin typeface="Cambria"/>
              </a:rPr>
              <a:t> × 15 settings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0" y="2578608"/>
            <a:ext cx="38249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Cambria"/>
              </a:rPr>
              <a:t>Original C</a:t>
            </a:r>
            <a:r>
              <a:rPr sz="1300" b="1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1" i="0">
                <a:solidFill>
                  <a:srgbClr val="1F2937"/>
                </a:solidFill>
                <a:latin typeface="Cambria"/>
              </a:rPr>
              <a:t>: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YOLOv11n, 10 epochs on Boston 1, random seed 0 or 1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324366"/>
              </p:ext>
            </p:extLst>
          </p:nvPr>
        </p:nvGraphicFramePr>
        <p:xfrm>
          <a:off x="7498080" y="3246120"/>
          <a:ext cx="3824935" cy="1331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01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60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74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 i="0" spc="100">
                          <a:solidFill>
                            <a:srgbClr val="B08D57"/>
                          </a:solidFill>
                          <a:latin typeface="Cambria"/>
                        </a:rPr>
                        <a:t>DATA USED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spc="100">
                          <a:solidFill>
                            <a:srgbClr val="B08D57"/>
                          </a:solidFill>
                          <a:latin typeface="Cambria"/>
                        </a:rPr>
                        <a:t>EPOCHS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 spc="100">
                          <a:solidFill>
                            <a:srgbClr val="B08D57"/>
                          </a:solidFill>
                          <a:latin typeface="Cambria"/>
                        </a:rPr>
                        <a:t>SETTINGS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 i="0" dirty="0">
                          <a:solidFill>
                            <a:srgbClr val="0B2545"/>
                          </a:solidFill>
                          <a:latin typeface="Cambria"/>
                        </a:rPr>
                        <a:t>100 %, 50 %,</a:t>
                      </a:r>
                      <a:br>
                        <a:rPr lang="en-US" sz="1250" b="1" i="0" dirty="0">
                          <a:solidFill>
                            <a:srgbClr val="0B2545"/>
                          </a:solidFill>
                          <a:latin typeface="Cambria"/>
                        </a:rPr>
                      </a:br>
                      <a:r>
                        <a:rPr sz="1250" b="1" i="0" dirty="0">
                          <a:solidFill>
                            <a:srgbClr val="0B2545"/>
                          </a:solidFill>
                          <a:latin typeface="Cambria"/>
                        </a:rPr>
                        <a:t> 25 %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937"/>
                          </a:solidFill>
                          <a:latin typeface="Cambria"/>
                        </a:rPr>
                        <a:t>3 × 3 seeds = 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0B2545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F2937"/>
                          </a:solidFill>
                          <a:latin typeface="Cambria"/>
                        </a:rPr>
                        <a:t>5 or 20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 dirty="0">
                          <a:solidFill>
                            <a:srgbClr val="1F2937"/>
                          </a:solidFill>
                          <a:latin typeface="Cambria"/>
                        </a:rPr>
                        <a:t>2 × 3 seeds = 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7589520" y="4578096"/>
            <a:ext cx="3824935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1" dirty="0">
                <a:solidFill>
                  <a:srgbClr val="6B7280"/>
                </a:solidFill>
                <a:latin typeface="Cambria"/>
              </a:rPr>
              <a:t>A random seed is the starting number for the random choices in training.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5321808"/>
            <a:ext cx="10820095" cy="685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85800" y="5321808"/>
            <a:ext cx="76200" cy="685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05840" y="5321808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ENVIRONMENT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71800" y="5321808"/>
            <a:ext cx="835121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mbria"/>
              </a:rPr>
              <a:t>Kaggle (GPU T4 x2)  ·  Intel Xeon 2.0 GHz, 4 virtual cores  ·  31 GB RAM  ·  Ubuntu 24.04</a:t>
            </a:r>
          </a:p>
          <a:p>
            <a:pPr algn="l"/>
            <a:r>
              <a:rPr sz="1250" b="0" i="0">
                <a:solidFill>
                  <a:srgbClr val="FFFFFF"/>
                </a:solidFill>
                <a:latin typeface="Cambria"/>
              </a:rPr>
              <a:t>Training on one NVIDIA Tesla T4 (15 GB)  ·  Python 3.13  ·  PyTorch 2.11 (CUDA 12.8)  ·  Ultralytics 8.4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Evaluation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III ·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749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PROCEDURE FOR EACH RETRAINING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B08D57"/>
                </a:solidFill>
                <a:latin typeface="Cambri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252" y="1794776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1F2937"/>
                </a:solidFill>
                <a:latin typeface="Cambria"/>
              </a:rPr>
              <a:t>Run the pipeline with the original C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1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 on the 50 test scenes.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4875" y="2286000"/>
            <a:ext cx="19050" cy="347472"/>
          </a:xfrm>
          <a:prstGeom prst="rect">
            <a:avLst/>
          </a:prstGeom>
          <a:solidFill>
            <a:srgbClr val="D9C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B08D57"/>
                </a:solidFill>
                <a:latin typeface="Cambr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711196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1F2937"/>
                </a:solidFill>
                <a:latin typeface="Cambria"/>
              </a:rPr>
              <a:t>Run the same fixed C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2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 and C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3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 with the retrained C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1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′ on the same scenes.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875" y="3182112"/>
            <a:ext cx="19050" cy="347472"/>
          </a:xfrm>
          <a:prstGeom prst="rect">
            <a:avLst/>
          </a:prstGeom>
          <a:solidFill>
            <a:srgbClr val="D9C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5800" y="3575304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57530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B08D57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657600"/>
            <a:ext cx="44348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1F2937"/>
                </a:solidFill>
                <a:latin typeface="Cambria"/>
              </a:rPr>
              <a:t>Compute δ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1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, Δ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2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 and Δ</a:t>
            </a:r>
            <a:r>
              <a:rPr sz="1500" b="0" i="0" baseline="-25000" dirty="0">
                <a:solidFill>
                  <a:srgbClr val="1F2937"/>
                </a:solidFill>
                <a:latin typeface="Cambria"/>
              </a:rPr>
              <a:t>3</a:t>
            </a:r>
            <a:r>
              <a:rPr sz="1500" b="0" i="0" dirty="0">
                <a:solidFill>
                  <a:srgbClr val="1F2937"/>
                </a:solidFill>
                <a:latin typeface="Cambria"/>
              </a:rPr>
              <a:t> as the differences between the two runs.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875" y="4078224"/>
            <a:ext cx="19050" cy="347472"/>
          </a:xfrm>
          <a:prstGeom prst="rect">
            <a:avLst/>
          </a:prstGeom>
          <a:solidFill>
            <a:srgbClr val="D9C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5800" y="4471416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447141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B08D57"/>
                </a:solidFill>
                <a:latin typeface="Cambri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559932"/>
            <a:ext cx="443484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1F2937"/>
                </a:solidFill>
                <a:latin typeface="Cambria"/>
              </a:rPr>
              <a:t>Repeat for both training modes and all 30 retraining.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394960"/>
            <a:ext cx="5074920" cy="6400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5394960"/>
            <a:ext cx="4709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1">
                <a:solidFill>
                  <a:srgbClr val="0B2545"/>
                </a:solidFill>
                <a:latin typeface="Cambria"/>
              </a:rPr>
              <a:t>A single positive Δ can come from chance. Each level of evidence removes one source of chance.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1280160"/>
            <a:ext cx="53336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50">
                <a:solidFill>
                  <a:srgbClr val="B08D57"/>
                </a:solidFill>
                <a:latin typeface="Cambria"/>
              </a:rPr>
              <a:t>THREE LEVELS OF EVIDENCE FOR AN INCREASE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1691640"/>
            <a:ext cx="5333695" cy="868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72200" y="1691640"/>
            <a:ext cx="76200" cy="8686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1801368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LEVEL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1764792"/>
            <a:ext cx="39620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Any increase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2148840"/>
            <a:ext cx="39620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Δ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&gt; 0 or Δ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&gt; 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2670048"/>
            <a:ext cx="5333695" cy="1783080"/>
          </a:xfrm>
          <a:prstGeom prst="rect">
            <a:avLst/>
          </a:prstGeom>
          <a:solidFill>
            <a:srgbClr val="2E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72200" y="2670048"/>
            <a:ext cx="76200" cy="17830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46520" y="2779776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LEVEL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2743200"/>
            <a:ext cx="39620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mbria"/>
              </a:rPr>
              <a:t>Larger than seed variation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3127248"/>
            <a:ext cx="396209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C9D3E0"/>
                </a:solidFill>
                <a:latin typeface="Cambria"/>
              </a:rPr>
              <a:t>Seed variation is the change in error when we replace the original C</a:t>
            </a:r>
            <a:r>
              <a:rPr sz="1300" b="0" i="0" baseline="-25000">
                <a:solidFill>
                  <a:srgbClr val="C9D3E0"/>
                </a:solidFill>
                <a:latin typeface="Cambria"/>
              </a:rPr>
              <a:t>1</a:t>
            </a:r>
            <a:r>
              <a:rPr sz="1300" b="0" i="0">
                <a:solidFill>
                  <a:srgbClr val="C9D3E0"/>
                </a:solidFill>
                <a:latin typeface="Cambria"/>
              </a:rPr>
              <a:t> by the other original C</a:t>
            </a:r>
            <a:r>
              <a:rPr sz="1300" b="0" i="0" baseline="-25000">
                <a:solidFill>
                  <a:srgbClr val="C9D3E0"/>
                </a:solidFill>
                <a:latin typeface="Cambria"/>
              </a:rPr>
              <a:t>1</a:t>
            </a:r>
            <a:r>
              <a:rPr sz="1300" b="0" i="0">
                <a:solidFill>
                  <a:srgbClr val="C9D3E0"/>
                </a:solidFill>
                <a:latin typeface="Cambria"/>
              </a:rPr>
              <a:t>. The two differ only in the random seed and have almost the same accuracy.</a:t>
            </a:r>
          </a:p>
          <a:p>
            <a:pPr algn="l"/>
            <a:r>
              <a:rPr sz="1300" b="1" i="0">
                <a:solidFill>
                  <a:srgbClr val="C9D3E0"/>
                </a:solidFill>
                <a:latin typeface="Cambria"/>
              </a:rPr>
              <a:t>Threshold:  Δ</a:t>
            </a:r>
            <a:r>
              <a:rPr sz="1300" b="1" i="0" baseline="-25000">
                <a:solidFill>
                  <a:srgbClr val="C9D3E0"/>
                </a:solidFill>
                <a:latin typeface="Cambria"/>
              </a:rPr>
              <a:t>2</a:t>
            </a:r>
            <a:r>
              <a:rPr sz="1300" b="1" i="0">
                <a:solidFill>
                  <a:srgbClr val="C9D3E0"/>
                </a:solidFill>
                <a:latin typeface="Cambria"/>
              </a:rPr>
              <a:t> &gt; 0.112 m,  Δ</a:t>
            </a:r>
            <a:r>
              <a:rPr sz="1300" b="1" i="0" baseline="-25000">
                <a:solidFill>
                  <a:srgbClr val="C9D3E0"/>
                </a:solidFill>
                <a:latin typeface="Cambria"/>
              </a:rPr>
              <a:t>3</a:t>
            </a:r>
            <a:r>
              <a:rPr sz="1300" b="1" i="0">
                <a:solidFill>
                  <a:srgbClr val="C9D3E0"/>
                </a:solidFill>
                <a:latin typeface="Cambria"/>
              </a:rPr>
              <a:t> &gt; 0.018 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4562856"/>
            <a:ext cx="5333695" cy="11887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172200" y="4562856"/>
            <a:ext cx="76200" cy="11887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46520" y="4672584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LEVEL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4636008"/>
            <a:ext cx="39620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mbria"/>
              </a:rPr>
              <a:t>Statistically significant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5020056"/>
            <a:ext cx="39620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C9D3E0"/>
                </a:solidFill>
                <a:latin typeface="Cambria"/>
              </a:rPr>
              <a:t>We randomly resample the 50 test scenes 2,000 times. The middle 95 % of the resampled increases lies above zero.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5861304"/>
            <a:ext cx="53336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50" b="0" i="1">
                <a:solidFill>
                  <a:srgbClr val="6B7280"/>
                </a:solidFill>
                <a:latin typeface="Cambria"/>
              </a:rPr>
              <a:t>weaker  →  stronger evidence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Check of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 and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III ·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10820095" cy="77724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325880"/>
            <a:ext cx="76200" cy="7772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7373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WHY WE</a:t>
            </a:r>
          </a:p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1325880"/>
            <a:ext cx="867125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F2937"/>
                </a:solidFill>
                <a:latin typeface="Cambria"/>
              </a:rPr>
              <a:t>If C</a:t>
            </a:r>
            <a:r>
              <a:rPr sz="15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500" b="0" i="0">
                <a:solidFill>
                  <a:srgbClr val="1F2937"/>
                </a:solidFill>
                <a:latin typeface="Cambria"/>
              </a:rPr>
              <a:t> or C</a:t>
            </a:r>
            <a:r>
              <a:rPr sz="15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500" b="0" i="0">
                <a:solidFill>
                  <a:srgbClr val="1F2937"/>
                </a:solidFill>
                <a:latin typeface="Cambria"/>
              </a:rPr>
              <a:t> were no better than a simple rule, a change of their error would say nothing about the retraining of C</a:t>
            </a:r>
            <a:r>
              <a:rPr sz="15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500" b="0" i="0">
                <a:solidFill>
                  <a:srgbClr val="1F2937"/>
                </a:solidFill>
                <a:latin typeface="Cambria"/>
              </a:rPr>
              <a:t>. We therefore compare both models with simple baselines on the test scenes.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240280"/>
          <a:ext cx="10820095" cy="25786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62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MODEL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INPUT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ERROR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SIMPLE BASELINE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RESULT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baseline="-25000">
                          <a:solidFill>
                            <a:srgbClr val="0B2545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Ground-truth objects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0.77 m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4.48 m: objects stay still</a:t>
                      </a:r>
                    </a:p>
                    <a:p>
                      <a:pPr algn="l"/>
                      <a:r>
                        <a:rPr sz="1100" b="0" i="1">
                          <a:solidFill>
                            <a:srgbClr val="6B7280"/>
                          </a:solidFill>
                          <a:latin typeface="Cambria"/>
                        </a:rPr>
                        <a:t>1.01 m: objects keep their speed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Better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baseline="-25000">
                          <a:solidFill>
                            <a:srgbClr val="0B2545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Output of C</a:t>
                      </a:r>
                      <a:r>
                        <a:rPr sz="1300" b="0" i="0" baseline="-2500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2.39 to 2.95 m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5.39 to 5.85 m: objects stay still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Better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baseline="-25000">
                          <a:solidFill>
                            <a:srgbClr val="0B2545"/>
                          </a:solidFill>
                          <a:latin typeface="Cambria"/>
                        </a:rPr>
                        <a:t>3</a:t>
                      </a:r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 without ego path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Output of C</a:t>
                      </a:r>
                      <a:r>
                        <a:rPr sz="1300" b="0" i="0" baseline="-2500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9.3 to 12.5 m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9.25 m: average Boston path for each driving command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Not better, not used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baseline="-25000">
                          <a:solidFill>
                            <a:srgbClr val="0B2545"/>
                          </a:solidFill>
                          <a:latin typeface="Cambria"/>
                        </a:rPr>
                        <a:t>3</a:t>
                      </a:r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 with ego path</a:t>
                      </a:r>
                    </a:p>
                    <a:p>
                      <a:pPr algn="l"/>
                      <a:r>
                        <a:rPr sz="1100" b="0" i="1">
                          <a:solidFill>
                            <a:srgbClr val="6B7280"/>
                          </a:solidFill>
                          <a:latin typeface="Cambria"/>
                        </a:rPr>
                        <a:t>used in this study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Output of C</a:t>
                      </a:r>
                      <a:r>
                        <a:rPr sz="1300" b="0" i="0" baseline="-2500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 and the ego path of the last 1.5 s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3.70 to 4.16 m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9.25 m: average Boston path for each driving command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Better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4901184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Cambria"/>
              </a:rPr>
              <a:t>Error of C</a:t>
            </a:r>
            <a:r>
              <a:rPr sz="1150" b="0" i="1" baseline="-25000">
                <a:solidFill>
                  <a:srgbClr val="6B7280"/>
                </a:solidFill>
                <a:latin typeface="Cambria"/>
              </a:rPr>
              <a:t>2</a:t>
            </a:r>
            <a:r>
              <a:rPr sz="1150" b="0" i="1">
                <a:solidFill>
                  <a:srgbClr val="6B7280"/>
                </a:solidFill>
                <a:latin typeface="Cambria"/>
              </a:rPr>
              <a:t>: minADE.  Error of C</a:t>
            </a:r>
            <a:r>
              <a:rPr sz="1150" b="0" i="1" baseline="-25000">
                <a:solidFill>
                  <a:srgbClr val="6B7280"/>
                </a:solidFill>
                <a:latin typeface="Cambria"/>
              </a:rPr>
              <a:t>3</a:t>
            </a:r>
            <a:r>
              <a:rPr sz="1150" b="0" i="1">
                <a:solidFill>
                  <a:srgbClr val="6B7280"/>
                </a:solidFill>
                <a:latin typeface="Cambria"/>
              </a:rPr>
              <a:t>: distance to the position of the human driver at 3 s.  All values on the 50 test scenes.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285232"/>
            <a:ext cx="10820095" cy="896112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85800" y="5285232"/>
            <a:ext cx="76200" cy="89611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5285232"/>
            <a:ext cx="173736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OBJECT-USE</a:t>
            </a:r>
          </a:p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5285232"/>
            <a:ext cx="8671255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mbria"/>
              </a:rPr>
              <a:t>An ego-path input can let a planning model ignore the objects. Removing the objects from the input of C</a:t>
            </a:r>
            <a:r>
              <a:rPr sz="1400" b="0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400" b="0" i="0">
                <a:solidFill>
                  <a:srgbClr val="FFFFFF"/>
                </a:solidFill>
                <a:latin typeface="Cambria"/>
              </a:rPr>
              <a:t> moves the planned position at 3 s by 0.73 to 1.65 m. This shift is above the threshold of 0.5 m. C</a:t>
            </a:r>
            <a:r>
              <a:rPr sz="1400" b="0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400" b="0" i="0">
                <a:solidFill>
                  <a:srgbClr val="FFFFFF"/>
                </a:solidFill>
                <a:latin typeface="Cambria"/>
              </a:rPr>
              <a:t> still uses the objects.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Result: Prediction Model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IV · RESULTS · RQ1, RQ2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34440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1">
                <a:solidFill>
                  <a:srgbClr val="0B2545"/>
                </a:solidFill>
                <a:latin typeface="Cambria"/>
              </a:rPr>
              <a:t>We test whether the prediction error increases, and whether the training mode matters.</a:t>
            </a:r>
          </a:p>
        </p:txBody>
      </p:sp>
      <p:pic>
        <p:nvPicPr>
          <p:cNvPr id="10" name="Picture 9" descr="fig_delt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5973775" cy="337989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772400" y="1325880"/>
            <a:ext cx="3733495" cy="868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0" y="1325880"/>
            <a:ext cx="50800" cy="8686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01000" y="1371600"/>
            <a:ext cx="336773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 i="0">
                <a:solidFill>
                  <a:srgbClr val="0B2545"/>
                </a:solidFill>
                <a:latin typeface="Cambria"/>
              </a:rPr>
              <a:t>C</a:t>
            </a:r>
            <a:r>
              <a:rPr sz="1450" b="1" i="0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450" b="1" i="0">
                <a:solidFill>
                  <a:srgbClr val="0B2545"/>
                </a:solidFill>
                <a:latin typeface="Cambria"/>
              </a:rPr>
              <a:t>′ is better in all 30 retrainings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737360"/>
            <a:ext cx="336773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mbria"/>
              </a:rPr>
              <a:t>δ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= +0.048 to +0.118 in mAP50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377440"/>
            <a:ext cx="37334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spc="120">
                <a:solidFill>
                  <a:srgbClr val="B08D57"/>
                </a:solidFill>
                <a:latin typeface="Cambria"/>
              </a:rPr>
              <a:t>RETRAININGS WITH Δ</a:t>
            </a:r>
            <a:r>
              <a:rPr sz="1150" b="1" i="0" spc="120" baseline="-25000">
                <a:solidFill>
                  <a:srgbClr val="B08D57"/>
                </a:solidFill>
                <a:latin typeface="Cambria"/>
              </a:rPr>
              <a:t>2</a:t>
            </a:r>
            <a:r>
              <a:rPr sz="1150" b="1" i="0" spc="120">
                <a:solidFill>
                  <a:srgbClr val="B08D57"/>
                </a:solidFill>
                <a:latin typeface="Cambria"/>
              </a:rPr>
              <a:t> &gt; 0  (OF 30)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7876407"/>
              </p:ext>
            </p:extLst>
          </p:nvPr>
        </p:nvGraphicFramePr>
        <p:xfrm>
          <a:off x="7772400" y="2697480"/>
          <a:ext cx="3733495" cy="1712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79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9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LEVEL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1. Any increase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23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2. Above seed variation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11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3. Significant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 dirty="0">
                          <a:solidFill>
                            <a:srgbClr val="1F2937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772400" y="4531373"/>
            <a:ext cx="3733495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09560" y="4515091"/>
            <a:ext cx="336773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mbria"/>
              </a:rPr>
              <a:t>Δ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is larger after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-output training than after GT training in </a:t>
            </a:r>
            <a:r>
              <a:rPr sz="1350" b="1" i="0">
                <a:solidFill>
                  <a:srgbClr val="1F2937"/>
                </a:solidFill>
                <a:latin typeface="Cambria"/>
              </a:rPr>
              <a:t>30 of 30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retrainings.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321808"/>
            <a:ext cx="10820095" cy="8229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85800" y="5321808"/>
            <a:ext cx="76200" cy="8229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321808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ANSWER TO</a:t>
            </a:r>
          </a:p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RQ1 AND RQ2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5321808"/>
            <a:ext cx="839693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mbria"/>
              </a:rPr>
              <a:t>H1 and H2 hold for C</a:t>
            </a:r>
            <a:r>
              <a:rPr sz="1500" b="0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500" b="0" i="0">
                <a:solidFill>
                  <a:srgbClr val="FFFFFF"/>
                </a:solidFill>
                <a:latin typeface="Cambria"/>
              </a:rPr>
              <a:t>. The increases above seed variation appear only after C</a:t>
            </a:r>
            <a:r>
              <a:rPr sz="1500" b="0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500" b="0" i="0">
                <a:solidFill>
                  <a:srgbClr val="FFFFFF"/>
                </a:solidFill>
                <a:latin typeface="Cambria"/>
              </a:rPr>
              <a:t>-output training. This result points to the first cause, the adaptation of C</a:t>
            </a:r>
            <a:r>
              <a:rPr sz="1500" b="0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500" b="0" i="0">
                <a:solidFill>
                  <a:srgbClr val="FFFFFF"/>
                </a:solidFill>
                <a:latin typeface="Cambria"/>
              </a:rPr>
              <a:t> to the errors of C</a:t>
            </a:r>
            <a:r>
              <a:rPr sz="1500" b="0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500" b="0" i="0">
                <a:solidFill>
                  <a:srgbClr val="FFFFFF"/>
                </a:solidFill>
                <a:latin typeface="Cambria"/>
              </a:rPr>
              <a:t>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108114"/>
            <a:ext cx="38100" cy="21945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5062394"/>
            <a:ext cx="586404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0B2545"/>
                </a:solidFill>
                <a:latin typeface="Cambria"/>
              </a:rPr>
              <a:t>All 11 increases above the dashed line come from the C</a:t>
            </a:r>
            <a:r>
              <a:rPr sz="1300" b="0" i="1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300" b="0" i="1">
                <a:solidFill>
                  <a:srgbClr val="0B2545"/>
                </a:solidFill>
                <a:latin typeface="Cambria"/>
              </a:rPr>
              <a:t> with seed 0 (left half).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Result: Planning Model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IV · RESULTS · RQ1, RQ2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34440"/>
            <a:ext cx="68122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1">
                <a:solidFill>
                  <a:srgbClr val="0B2545"/>
                </a:solidFill>
                <a:latin typeface="Cambria"/>
              </a:rPr>
              <a:t>We test whether the increase reaches the end of the pipeline, the planned path of C</a:t>
            </a:r>
            <a:r>
              <a:rPr sz="1350" b="0" i="1" baseline="-25000">
                <a:solidFill>
                  <a:srgbClr val="0B2545"/>
                </a:solidFill>
                <a:latin typeface="Cambria"/>
              </a:rPr>
              <a:t>3</a:t>
            </a:r>
            <a:r>
              <a:rPr sz="1350" b="0" i="1">
                <a:solidFill>
                  <a:srgbClr val="0B2545"/>
                </a:solidFill>
                <a:latin typeface="Cambria"/>
              </a:rPr>
              <a:t>.</a:t>
            </a:r>
          </a:p>
        </p:txBody>
      </p:sp>
      <p:pic>
        <p:nvPicPr>
          <p:cNvPr id="10" name="Picture 9" descr="fig_delt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5973775" cy="337989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325880"/>
            <a:ext cx="373349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spc="120">
                <a:solidFill>
                  <a:srgbClr val="B08D57"/>
                </a:solidFill>
                <a:latin typeface="Cambria"/>
              </a:rPr>
              <a:t>RETRAININGS WITH Δ</a:t>
            </a:r>
            <a:r>
              <a:rPr sz="1150" b="1" i="0" spc="120" baseline="-25000">
                <a:solidFill>
                  <a:srgbClr val="B08D57"/>
                </a:solidFill>
                <a:latin typeface="Cambria"/>
              </a:rPr>
              <a:t>3</a:t>
            </a:r>
            <a:r>
              <a:rPr sz="1150" b="1" i="0" spc="120">
                <a:solidFill>
                  <a:srgbClr val="B08D57"/>
                </a:solidFill>
                <a:latin typeface="Cambria"/>
              </a:rPr>
              <a:t> &gt; 0  (OF 30)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411338"/>
              </p:ext>
            </p:extLst>
          </p:nvPr>
        </p:nvGraphicFramePr>
        <p:xfrm>
          <a:off x="7772400" y="1645920"/>
          <a:ext cx="3733495" cy="1712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17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2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 spc="100" dirty="0">
                          <a:solidFill>
                            <a:srgbClr val="B08D57"/>
                          </a:solidFill>
                          <a:latin typeface="Cambria"/>
                        </a:rPr>
                        <a:t>LEVEL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C</a:t>
                      </a:r>
                      <a:r>
                        <a:rPr sz="13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1. Any increase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18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29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2. Above seed variation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13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937"/>
                          </a:solidFill>
                          <a:latin typeface="Cambria"/>
                        </a:rPr>
                        <a:t>29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2545"/>
                          </a:solidFill>
                          <a:latin typeface="Cambria"/>
                        </a:rPr>
                        <a:t>3. Significant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 dirty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7772400" y="3429000"/>
            <a:ext cx="3733495" cy="868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0" y="3429000"/>
            <a:ext cx="50800" cy="8686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1000" y="3502152"/>
            <a:ext cx="336773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The increase is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813048"/>
            <a:ext cx="336773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Largest Δ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: 0.13 m, against a planning error of 3.70 to 4.16 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389120"/>
            <a:ext cx="3733495" cy="868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0" y="4389120"/>
            <a:ext cx="50800" cy="8686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01000" y="4462272"/>
            <a:ext cx="3367735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B2545"/>
                </a:solidFill>
                <a:latin typeface="Cambria"/>
              </a:rPr>
              <a:t>The objects have a small effect on C</a:t>
            </a:r>
            <a:r>
              <a:rPr sz="1400" b="1" i="0" baseline="-25000">
                <a:solidFill>
                  <a:srgbClr val="0B2545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4773168"/>
            <a:ext cx="336773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Removing all objects moves the plan of C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by only 0.73 to 1.65 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440680"/>
            <a:ext cx="10820095" cy="7772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5440680"/>
            <a:ext cx="76200" cy="7772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440680"/>
            <a:ext cx="18288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ANSWER FOR C</a:t>
            </a:r>
            <a:r>
              <a:rPr sz="1250" b="1" i="0" spc="150" baseline="-25000">
                <a:solidFill>
                  <a:srgbClr val="B08D57"/>
                </a:solidFill>
                <a:latin typeface="Cambri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440680"/>
            <a:ext cx="839693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mbria"/>
              </a:rPr>
              <a:t>The planning error increases, but by at most 0.13 m. The increase is more frequent after GT training. The first cause cannot explain this increase.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5108114"/>
            <a:ext cx="38100" cy="21945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5062394"/>
            <a:ext cx="586404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0B2545"/>
                </a:solidFill>
                <a:latin typeface="Cambria"/>
              </a:rPr>
              <a:t>Most circled (significant) points are gold diamonds, which show GT training.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Result: Retraining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 and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 on the Output of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IV · RESULTS · RQ2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14</a:t>
            </a:r>
          </a:p>
        </p:txBody>
      </p:sp>
      <p:pic>
        <p:nvPicPr>
          <p:cNvPr id="9" name="Picture 8" descr="fig_re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80160"/>
            <a:ext cx="7315200" cy="34791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75320" y="1325880"/>
            <a:ext cx="3230575" cy="10972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75320" y="1325880"/>
            <a:ext cx="508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03920" y="1417320"/>
            <a:ext cx="28648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WHAT WE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709928"/>
            <a:ext cx="28648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We retrain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on the output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′. We test one retraining of each original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5320" y="2560320"/>
            <a:ext cx="3230575" cy="10972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75320" y="2560320"/>
            <a:ext cx="508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03920" y="2651760"/>
            <a:ext cx="28648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CHANGE IN 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944368"/>
            <a:ext cx="28648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Prediction error: −0.36 m and −0.16 m</a:t>
            </a:r>
          </a:p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Planning error: −0.44 m and −0.30 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20" y="3794760"/>
            <a:ext cx="3230575" cy="10972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75320" y="3794760"/>
            <a:ext cx="50800" cy="10972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20" y="3886200"/>
            <a:ext cx="28648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50">
                <a:solidFill>
                  <a:srgbClr val="B08D57"/>
                </a:solidFill>
                <a:latin typeface="Cambria"/>
              </a:rP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178808"/>
            <a:ext cx="28648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Both errors fall below their values before the retraining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321808"/>
            <a:ext cx="10820095" cy="8229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85800" y="5321808"/>
            <a:ext cx="76200" cy="82296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5840" y="5321808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TAKEAWAY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80360" y="5321808"/>
            <a:ext cx="839693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mbria"/>
              </a:rPr>
              <a:t>When C</a:t>
            </a:r>
            <a:r>
              <a:rPr sz="1450" b="0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450" b="0" i="0">
                <a:solidFill>
                  <a:srgbClr val="FFFFFF"/>
                </a:solidFill>
                <a:latin typeface="Cambria"/>
              </a:rPr>
              <a:t> and C</a:t>
            </a:r>
            <a:r>
              <a:rPr sz="1450" b="0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450" b="0" i="0">
                <a:solidFill>
                  <a:srgbClr val="FFFFFF"/>
                </a:solidFill>
                <a:latin typeface="Cambria"/>
              </a:rPr>
              <a:t> learn the errors of C</a:t>
            </a:r>
            <a:r>
              <a:rPr sz="1450" b="0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450" b="0" i="0">
                <a:solidFill>
                  <a:srgbClr val="FFFFFF"/>
                </a:solidFill>
                <a:latin typeface="Cambria"/>
              </a:rPr>
              <a:t>′, both errors decrease. This result supports the first cause. Retraining all downstream models after every update has a cost. This cost motivates RQ3.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841636"/>
            <a:ext cx="38100" cy="21945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795916"/>
            <a:ext cx="72054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0B2545"/>
                </a:solidFill>
                <a:latin typeface="Cambria"/>
              </a:rPr>
              <a:t>In every group, the navy bar (C</a:t>
            </a:r>
            <a:r>
              <a:rPr sz="1300" b="0" i="1" baseline="-25000">
                <a:solidFill>
                  <a:srgbClr val="0B2545"/>
                </a:solidFill>
                <a:latin typeface="Cambria"/>
              </a:rPr>
              <a:t>2</a:t>
            </a:r>
            <a:r>
              <a:rPr sz="1300" b="0" i="1">
                <a:solidFill>
                  <a:srgbClr val="0B2545"/>
                </a:solidFill>
                <a:latin typeface="Cambria"/>
              </a:rPr>
              <a:t> and C</a:t>
            </a:r>
            <a:r>
              <a:rPr sz="1300" b="0" i="1" baseline="-25000">
                <a:solidFill>
                  <a:srgbClr val="0B2545"/>
                </a:solidFill>
                <a:latin typeface="Cambria"/>
              </a:rPr>
              <a:t>3</a:t>
            </a:r>
            <a:r>
              <a:rPr sz="1300" b="0" i="1">
                <a:solidFill>
                  <a:srgbClr val="0B2545"/>
                </a:solidFill>
                <a:latin typeface="Cambria"/>
              </a:rPr>
              <a:t> retrained on the output of C</a:t>
            </a:r>
            <a:r>
              <a:rPr sz="1300" b="0" i="1" baseline="-25000">
                <a:solidFill>
                  <a:srgbClr val="0B2545"/>
                </a:solidFill>
                <a:latin typeface="Cambria"/>
              </a:rPr>
              <a:t>1</a:t>
            </a:r>
            <a:r>
              <a:rPr sz="1300" b="0" i="1">
                <a:solidFill>
                  <a:srgbClr val="0B2545"/>
                </a:solidFill>
                <a:latin typeface="Cambria"/>
              </a:rPr>
              <a:t>′) is the lowest.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Result: Detection Without Ground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IV · RESULTS · RQ3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15</a:t>
            </a:r>
          </a:p>
        </p:txBody>
      </p:sp>
      <p:pic>
        <p:nvPicPr>
          <p:cNvPr id="9" name="Picture 8" descr="fig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102705" cy="371110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269480" y="1280160"/>
            <a:ext cx="4236415" cy="749808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69480" y="1280160"/>
            <a:ext cx="50800" cy="74980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0" y="1353312"/>
            <a:ext cx="387065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150">
                <a:solidFill>
                  <a:srgbClr val="B08D57"/>
                </a:solidFill>
                <a:latin typeface="Cambria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0" y="1609344"/>
            <a:ext cx="387065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After deployment, new data have no ground truth. A warning sign must work without ground truth.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2103120"/>
            <a:ext cx="4236415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269480" y="2103120"/>
            <a:ext cx="508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0" y="2176272"/>
            <a:ext cx="387065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150">
                <a:solidFill>
                  <a:srgbClr val="B08D57"/>
                </a:solidFill>
                <a:latin typeface="Cambria"/>
              </a:rPr>
              <a:t>WHAT WE MEASURE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2432304"/>
            <a:ext cx="387065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Nine measures compare the outputs before and after the retraining on the same test images. Seven use the output of C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. Two use the output of C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3090672"/>
            <a:ext cx="4236415" cy="987552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69480" y="3090672"/>
            <a:ext cx="50800" cy="98755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0" y="3163824"/>
            <a:ext cx="387065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150">
                <a:solidFill>
                  <a:srgbClr val="B08D57"/>
                </a:solidFill>
                <a:latin typeface="Cambria"/>
              </a:rPr>
              <a:t>WHY RANK CORRELATION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3419856"/>
            <a:ext cx="3870655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A useful measure is larger for retrainings with a larger Δ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. Rank correlation measures this agreement. A value of +1 is perfect agreement, and 0 is none.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4151376"/>
            <a:ext cx="4236415" cy="987552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269480" y="4151376"/>
            <a:ext cx="50800" cy="98755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4224528"/>
            <a:ext cx="3870655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 spc="150">
                <a:solidFill>
                  <a:srgbClr val="B08D57"/>
                </a:solidFill>
                <a:latin typeface="Cambria"/>
              </a:rPr>
              <a:t>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4480560"/>
            <a:ext cx="3870655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mbria"/>
              </a:rPr>
              <a:t>The best measure is the shift of predicted positions. Its rank correlation is </a:t>
            </a:r>
            <a:r>
              <a:rPr sz="1250" b="1" i="0">
                <a:solidFill>
                  <a:srgbClr val="1F2937"/>
                </a:solidFill>
                <a:latin typeface="Cambria"/>
              </a:rPr>
              <a:t>+0.68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over all 30 retrainings, but only </a:t>
            </a:r>
            <a:r>
              <a:rPr sz="1250" b="1" i="0">
                <a:solidFill>
                  <a:srgbClr val="1F2937"/>
                </a:solidFill>
                <a:latin typeface="Cambria"/>
              </a:rPr>
              <a:t>+0.29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and </a:t>
            </a:r>
            <a:r>
              <a:rPr sz="1250" b="1" i="0">
                <a:solidFill>
                  <a:srgbClr val="1F2937"/>
                </a:solidFill>
                <a:latin typeface="Cambria"/>
              </a:rPr>
              <a:t>−0.28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 within each original C</a:t>
            </a:r>
            <a:r>
              <a:rPr sz="12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250" b="0" i="0">
                <a:solidFill>
                  <a:srgbClr val="1F2937"/>
                </a:solidFill>
                <a:latin typeface="Cambria"/>
              </a:rPr>
              <a:t>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440680"/>
            <a:ext cx="10820095" cy="749808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5800" y="5440680"/>
            <a:ext cx="76200" cy="74980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5840" y="5440680"/>
            <a:ext cx="182880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50">
                <a:solidFill>
                  <a:srgbClr val="B08D57"/>
                </a:solidFill>
                <a:latin typeface="Cambria"/>
              </a:rPr>
              <a:t>ANSWER TO RQ3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5440680"/>
            <a:ext cx="8396935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FFFFFF"/>
                </a:solidFill>
                <a:latin typeface="Cambria"/>
              </a:rPr>
              <a:t>H3 is not supported. The best measure only separates the two original C</a:t>
            </a:r>
            <a:r>
              <a:rPr sz="1450" b="0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450" b="0" i="0">
                <a:solidFill>
                  <a:srgbClr val="FFFFFF"/>
                </a:solidFill>
                <a:latin typeface="Cambria"/>
              </a:rPr>
              <a:t>. No measure identifies single retrainings with entangled enhancement.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5027840"/>
            <a:ext cx="38100" cy="21945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4982120"/>
            <a:ext cx="599297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0B2545"/>
                </a:solidFill>
                <a:latin typeface="Cambria"/>
              </a:rPr>
              <a:t>Only the shift of predicted positions reaches +0.68, and only over all 30 retrainings.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V ·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10820095" cy="96012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325880"/>
            <a:ext cx="76200" cy="96012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271455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Cambria"/>
              </a:rPr>
              <a:t>In this study, we empirically investigated entangled enhancement in an autonomous driving pipeline of three ML models. We retrained the perception model C</a:t>
            </a:r>
            <a:r>
              <a:rPr sz="16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600" b="0" i="0">
                <a:solidFill>
                  <a:srgbClr val="1F2937"/>
                </a:solidFill>
                <a:latin typeface="Cambria"/>
              </a:rPr>
              <a:t> 30 times and trained C</a:t>
            </a:r>
            <a:r>
              <a:rPr sz="16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60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6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600" b="0" i="0">
                <a:solidFill>
                  <a:srgbClr val="1F2937"/>
                </a:solidFill>
                <a:latin typeface="Cambria"/>
              </a:rPr>
              <a:t> in two training modes.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68880"/>
            <a:ext cx="2103120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468880"/>
            <a:ext cx="1828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20">
                <a:solidFill>
                  <a:srgbClr val="B08D57"/>
                </a:solidFill>
                <a:latin typeface="Cambria"/>
              </a:rPr>
              <a:t>RQ1 · OCCURRENCE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2468880"/>
            <a:ext cx="8716975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63240" y="2468880"/>
            <a:ext cx="643097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mbria"/>
              </a:rPr>
              <a:t>We observe that a retraining that improves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increases the prediction error of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. The increase is above seed variation in 11 of 30 retrainings and significant in 3. The planning error of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increases by at most 0.13 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31375" y="2651760"/>
            <a:ext cx="1737360" cy="685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31375" y="2651760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H1 SUPPORTED</a:t>
            </a:r>
          </a:p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FOR C</a:t>
            </a:r>
            <a:r>
              <a:rPr sz="1150" b="1" i="0" spc="100" baseline="-2500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639312"/>
            <a:ext cx="2103120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3639312"/>
            <a:ext cx="1828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20">
                <a:solidFill>
                  <a:srgbClr val="B08D57"/>
                </a:solidFill>
                <a:latin typeface="Cambria"/>
              </a:rPr>
              <a:t>RQ2 · CAUSE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88920" y="3639312"/>
            <a:ext cx="8716975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063240" y="3639312"/>
            <a:ext cx="643097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mbria"/>
              </a:rPr>
              <a:t>We confirm that the increase in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comes from the adaptation of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to the errors of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. The increase appears only after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-output training. Retraining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and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 on the output of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′ lowers both errors.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31375" y="3822192"/>
            <a:ext cx="1737360" cy="685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31375" y="3822192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H2 SUPPORTED</a:t>
            </a:r>
          </a:p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FOR C</a:t>
            </a:r>
            <a:r>
              <a:rPr sz="1150" b="1" i="0" spc="100" baseline="-2500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809744"/>
            <a:ext cx="2103120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809744"/>
            <a:ext cx="1828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120">
                <a:solidFill>
                  <a:srgbClr val="B08D57"/>
                </a:solidFill>
                <a:latin typeface="Cambria"/>
              </a:rPr>
              <a:t>RQ3 · DETECTION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920" y="4809744"/>
            <a:ext cx="8716975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9C4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63240" y="4809744"/>
            <a:ext cx="643097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i="0">
                <a:solidFill>
                  <a:srgbClr val="1F2937"/>
                </a:solidFill>
                <a:latin typeface="Cambria"/>
              </a:rPr>
              <a:t>We find no measure without ground truth that identifies single retrainings with entangled enhancement.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31375" y="4992624"/>
            <a:ext cx="1737360" cy="685800"/>
          </a:xfrm>
          <a:prstGeom prst="rect">
            <a:avLst/>
          </a:prstGeom>
          <a:solidFill>
            <a:srgbClr val="8B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631375" y="4992624"/>
            <a:ext cx="1737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H3 NOT</a:t>
            </a:r>
          </a:p>
          <a:p>
            <a:pPr algn="ctr"/>
            <a:r>
              <a:rPr sz="1150" b="1" i="0" spc="100">
                <a:solidFill>
                  <a:srgbClr val="FFFFFF"/>
                </a:solidFill>
                <a:latin typeface="Cambria"/>
              </a:rPr>
              <a:t>SUPPORTED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V ·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71600"/>
            <a:ext cx="10820095" cy="18288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371600"/>
            <a:ext cx="76200" cy="1828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5544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200">
                <a:solidFill>
                  <a:srgbClr val="B08D57"/>
                </a:solidFill>
                <a:latin typeface="Cambria"/>
              </a:rPr>
              <a:t>NEXT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874520"/>
            <a:ext cx="1008857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mbria"/>
              </a:rPr>
              <a:t>Early detection of entangled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377440"/>
            <a:ext cx="1008857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50" b="0" i="0">
                <a:solidFill>
                  <a:srgbClr val="C9D3E0"/>
                </a:solidFill>
                <a:latin typeface="Cambria"/>
              </a:rPr>
              <a:t>We are developing a method that detects entangled enhancement before C</a:t>
            </a:r>
            <a:r>
              <a:rPr sz="1550" b="0" i="0" baseline="-25000">
                <a:solidFill>
                  <a:srgbClr val="C9D3E0"/>
                </a:solidFill>
                <a:latin typeface="Cambria"/>
              </a:rPr>
              <a:t>1</a:t>
            </a:r>
            <a:r>
              <a:rPr sz="1550" b="0" i="0">
                <a:solidFill>
                  <a:srgbClr val="C9D3E0"/>
                </a:solidFill>
                <a:latin typeface="Cambria"/>
              </a:rPr>
              <a:t>′ is deployed, and before ground truth for the new data exists. None of the nine measures in this study achieves this detection.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520440"/>
            <a:ext cx="3423818" cy="2011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85800" y="3520440"/>
            <a:ext cx="3423818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4400" y="379476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794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B08D57"/>
                </a:solidFill>
                <a:latin typeface="Cambria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794760"/>
            <a:ext cx="241797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More test scenes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434840"/>
            <a:ext cx="296661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With 50 test scenes, only 3 of 30 increases are statistically significant. More scenes give narrower intervals.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3938" y="3520440"/>
            <a:ext cx="3423818" cy="2011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83938" y="3520440"/>
            <a:ext cx="3423818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612538" y="379476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12538" y="3794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B08D57"/>
                </a:solidFill>
                <a:latin typeface="Cambria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6898" y="3794760"/>
            <a:ext cx="241797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More original C</a:t>
            </a:r>
            <a:r>
              <a:rPr sz="1700" b="1" i="0" baseline="-25000">
                <a:solidFill>
                  <a:srgbClr val="0B2545"/>
                </a:solidFill>
                <a:latin typeface="Cambri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4434840"/>
            <a:ext cx="296661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All 11 increases above seed variation come from one original 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. More original C</a:t>
            </a:r>
            <a:r>
              <a:rPr sz="14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400" b="0" i="0">
                <a:solidFill>
                  <a:srgbClr val="1F2937"/>
                </a:solidFill>
                <a:latin typeface="Cambria"/>
              </a:rPr>
              <a:t> show how often this case occurs.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2076" y="3520440"/>
            <a:ext cx="3423818" cy="201168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82076" y="3520440"/>
            <a:ext cx="3423818" cy="508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310676" y="3794760"/>
            <a:ext cx="457200" cy="4572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10676" y="379476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B08D57"/>
                </a:solidFill>
                <a:latin typeface="Cambria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5036" y="3794760"/>
            <a:ext cx="241797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mbria"/>
              </a:rPr>
              <a:t>Input to retraining models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0676" y="4434840"/>
            <a:ext cx="296661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mbria"/>
              </a:rPr>
              <a:t>The measured frequency of entangled enhancement can serve as the probability in the models of Wang and Machida.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V ·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10820095" cy="4892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Cambria"/>
              </a:rPr>
              <a:t>[1]  Z. Wang and F. Machida, "Maintaining performance of a machine learning system against imperfect retraining," in Proc. IEEE COMPSAC, 2024, pp. 1782–1787.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Cambria"/>
              </a:rPr>
              <a:t>[2]  Z. Wang and F. Machida, "Exploiting the availability-continuity trade-off in imperfect retraining of machine learning systems," in Proc. IEEE ISSRE, 2025, pp. 406–417.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Cambria"/>
              </a:rPr>
              <a:t>[3]  D. Sculley et al., "Hidden technical debt in machine learning systems," in Proc. NIPS, 2015, pp. 2503–2511.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Cambria"/>
              </a:rPr>
              <a:t>[4]  R. Wu, C. Guo, A. Hannun, and L. van der Maaten, "Fixes that fail: Self-defeating improvements in machine-learning systems," in Proc. NeurIPS, 2021, pp. 11745–11756.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Cambria"/>
              </a:rPr>
              <a:t>[5]  Y. Xu et al., "Towards motion forecasting with real-world perception inputs: Are end-to-end approaches competitive?," in Proc. IEEE ICRA, 2024, pp. 18428–18435.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Cambria"/>
              </a:rPr>
              <a:t>[6]  H. Caesar et al., "nuScenes: A multimodal dataset for autonomous driving," in Proc. IEEE/CVF CVPR, 2020.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Cambria"/>
              </a:rPr>
              <a:t>[7]  G. Jocher and J. Qiu, "Ultralytics YOLO11," https://github.com/ultralytics/ultralytics, 2024.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Cambria"/>
              </a:rPr>
              <a:t>[8]  R. Girgis et al., "Latent variable sequential set transformers for joint multi-agent motion prediction," in Proc. ICLR, 2022.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Cambria"/>
              </a:rPr>
              <a:t>[9]  K. Renz et al., "PlanT: Explainable planning transformers via object-level representations," in Proc. CoRL, 2022.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Cambria"/>
              </a:rPr>
              <a:t>[10]  J.-T. Zhai et al., "Rethinking the open-loop evaluation of end-to-end autonomous driving in nuScenes," arXiv:2305.10430, 2023.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Cambria"/>
              </a:rPr>
              <a:t>[11]  Z. Li et al., "Is ego status all you need for open-loop end-to-end autonomous driving?," in Proc. IEEE/CVF CVPR, 2024.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270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93192" y="393192"/>
            <a:ext cx="11405311" cy="6071616"/>
          </a:xfrm>
          <a:prstGeom prst="rect">
            <a:avLst/>
          </a:prstGeom>
          <a:noFill/>
          <a:ln w="6350">
            <a:solidFill>
              <a:srgbClr val="B08D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628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4267047" y="3299206"/>
            <a:ext cx="1709928" cy="127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14719" y="3299206"/>
            <a:ext cx="1709928" cy="127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Diamond 7"/>
          <p:cNvSpPr/>
          <p:nvPr/>
        </p:nvSpPr>
        <p:spPr>
          <a:xfrm>
            <a:off x="6036411" y="3246120"/>
            <a:ext cx="118872" cy="118872"/>
          </a:xfrm>
          <a:prstGeom prst="diamond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628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1">
                <a:solidFill>
                  <a:srgbClr val="C9D3E0"/>
                </a:solidFill>
                <a:latin typeface="Cambria"/>
              </a:rPr>
              <a:t>Questions and comments are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spc="100">
                <a:solidFill>
                  <a:srgbClr val="B08D57"/>
                </a:solidFill>
                <a:latin typeface="Cambria"/>
              </a:rPr>
              <a:t>Rashedul Arefin Ifty  ·  Dependable AI Systems Laboratory  ·  University of Tsukuba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Appendix A: Retrainings of Original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, Seed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APPENDIX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385175"/>
              </p:ext>
            </p:extLst>
          </p:nvPr>
        </p:nvGraphicFramePr>
        <p:xfrm>
          <a:off x="685800" y="1280160"/>
          <a:ext cx="10820092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#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DATA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EPOCHS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SEED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2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C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2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3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C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 dirty="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 dirty="0">
                          <a:solidFill>
                            <a:srgbClr val="B08D57"/>
                          </a:solidFill>
                          <a:latin typeface="Cambria"/>
                        </a:rPr>
                        <a:t>3</a:t>
                      </a:r>
                      <a:r>
                        <a:rPr sz="1100" b="1" i="0" spc="100" dirty="0">
                          <a:solidFill>
                            <a:srgbClr val="B08D57"/>
                          </a:solidFill>
                          <a:latin typeface="Cambria"/>
                        </a:rPr>
                        <a:t>  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+0.049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−0.141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−0.027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+0.035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+0.096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−0.212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+0.026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+0.067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+0.139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−0.060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+0.078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+0.184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+0.021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−0.012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+0.081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+0.192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+0.031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+0.063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+0.098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−0.154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+0.040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+0.127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+0.064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+0.233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−0.058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−0.030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8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+0.059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+0.284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+0.082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−0.042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+0.071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+0.157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−0.141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−0.046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+0.034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+0.094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+0.182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−0.073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−0.024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+0.052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+0.284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+0.001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−0.006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+0.040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+0.266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+0.093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−0.042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+0.033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−0.079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0.000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+0.051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+0.080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+0.127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−0.051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+0.025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+0.059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+0.115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−0.085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+0.001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dirty="0">
                          <a:solidFill>
                            <a:srgbClr val="8B2E2E"/>
                          </a:solidFill>
                          <a:latin typeface="Cambria"/>
                        </a:rPr>
                        <a:t>+0.056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133281"/>
            <a:ext cx="10820095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mbria"/>
              </a:rPr>
              <a:t>Changes in meters after the retraining.  Shaded: larger than seed variation (0.112 m for Δ</a:t>
            </a:r>
            <a:r>
              <a:rPr sz="1100" b="0" i="1" baseline="-25000" dirty="0">
                <a:solidFill>
                  <a:srgbClr val="6B7280"/>
                </a:solidFill>
                <a:latin typeface="Cambria"/>
              </a:rPr>
              <a:t>2</a:t>
            </a:r>
            <a:r>
              <a:rPr sz="1100" b="0" i="1" dirty="0">
                <a:solidFill>
                  <a:srgbClr val="6B7280"/>
                </a:solidFill>
                <a:latin typeface="Cambria"/>
              </a:rPr>
              <a:t>, 0.018 m for Δ</a:t>
            </a:r>
            <a:r>
              <a:rPr sz="1100" b="0" i="1" baseline="-25000" dirty="0">
                <a:solidFill>
                  <a:srgbClr val="6B7280"/>
                </a:solidFill>
                <a:latin typeface="Cambria"/>
              </a:rPr>
              <a:t>3</a:t>
            </a:r>
            <a:r>
              <a:rPr sz="1100" b="0" i="1" dirty="0">
                <a:solidFill>
                  <a:srgbClr val="6B7280"/>
                </a:solidFill>
                <a:latin typeface="Cambria"/>
              </a:rPr>
              <a:t>).  * Statistically significant.  Data: share of Singapore 1 used for the retraining.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Appendix B: Retrainings of Original C</a:t>
            </a:r>
            <a:r>
              <a:rPr sz="30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3000" b="1" i="0">
                <a:solidFill>
                  <a:srgbClr val="FFFFFF"/>
                </a:solidFill>
                <a:latin typeface="Cambria"/>
              </a:rPr>
              <a:t>, Seed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APPENDIX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21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183005"/>
              </p:ext>
            </p:extLst>
          </p:nvPr>
        </p:nvGraphicFramePr>
        <p:xfrm>
          <a:off x="685800" y="1280160"/>
          <a:ext cx="10820092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68775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#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DATA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EPOCHS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SEED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2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C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2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3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  C</a:t>
                      </a:r>
                      <a:r>
                        <a:rPr sz="1100" b="1" i="0" spc="100" baseline="-25000">
                          <a:solidFill>
                            <a:srgbClr val="B08D57"/>
                          </a:solidFill>
                          <a:latin typeface="Cambria"/>
                        </a:rPr>
                        <a:t>1</a:t>
                      </a:r>
                      <a:r>
                        <a:rPr sz="1100" b="1" i="0" spc="100">
                          <a:solidFill>
                            <a:srgbClr val="B08D57"/>
                          </a:solidFill>
                          <a:latin typeface="Cambria"/>
                        </a:rPr>
                        <a:t>-OUTPUT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100" dirty="0">
                          <a:solidFill>
                            <a:srgbClr val="B08D57"/>
                          </a:solidFill>
                          <a:latin typeface="Cambria"/>
                        </a:rPr>
                        <a:t>Δ</a:t>
                      </a:r>
                      <a:r>
                        <a:rPr sz="1100" b="1" i="0" spc="100" baseline="-25000" dirty="0">
                          <a:solidFill>
                            <a:srgbClr val="B08D57"/>
                          </a:solidFill>
                          <a:latin typeface="Cambria"/>
                        </a:rPr>
                        <a:t>3</a:t>
                      </a:r>
                      <a:r>
                        <a:rPr sz="1100" b="1" i="0" spc="100" dirty="0">
                          <a:solidFill>
                            <a:srgbClr val="B08D57"/>
                          </a:solidFill>
                          <a:latin typeface="Cambria"/>
                        </a:rPr>
                        <a:t>  GT</a:t>
                      </a:r>
                    </a:p>
                  </a:txBody>
                  <a:tcPr marL="137160" marR="137160" marT="54864" marB="54864" anchor="ctr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16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−0.054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−0.170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−0.001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dirty="0">
                          <a:solidFill>
                            <a:srgbClr val="8B2E2E"/>
                          </a:solidFill>
                          <a:latin typeface="Cambria"/>
                        </a:rPr>
                        <a:t>+0.021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17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−0.081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−0.156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+0.026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+0.073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−0.187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−0.280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+0.023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+0.026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19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−0.030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−0.115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+0.072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+0.084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+0.067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−0.135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−0.152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+0.054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+0.088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−0.089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−0.141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+0.037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+0.070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+0.048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+0.090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−0.059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−0.001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+0.029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+0.078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+0.081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−0.095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−0.042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−0.004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24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25 %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+0.082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−0.111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+0.010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+0.022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+0.086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−0.025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−0.267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+0.033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+0.068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26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+0.118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+0.040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−0.094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+0.003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8B2E2E"/>
                          </a:solidFill>
                          <a:latin typeface="Cambria"/>
                        </a:rPr>
                        <a:t>+0.064 </a:t>
                      </a:r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*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27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+0.115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+0.052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−0.107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+0.015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+0.050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+0.102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+0.003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−0.094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+0.049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+0.047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29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+0.071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+0.065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−0.029</a:t>
                      </a:r>
                    </a:p>
                  </a:txBody>
                  <a:tcPr marL="137160" marR="137160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+0.021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8B2E2E"/>
                          </a:solidFill>
                          <a:latin typeface="Cambria"/>
                        </a:rPr>
                        <a:t>+0.022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0B2545"/>
                          </a:solidFill>
                          <a:latin typeface="Cambria"/>
                        </a:rPr>
                        <a:t>30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100 %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20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+0.071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+0.073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−0.025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F2937"/>
                          </a:solidFill>
                          <a:latin typeface="Cambria"/>
                        </a:rPr>
                        <a:t>+0.018</a:t>
                      </a:r>
                    </a:p>
                  </a:txBody>
                  <a:tcPr marL="137160" marR="137160" marT="54864" marB="54864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 dirty="0">
                          <a:solidFill>
                            <a:srgbClr val="8B2E2E"/>
                          </a:solidFill>
                          <a:latin typeface="Cambria"/>
                        </a:rPr>
                        <a:t>+0.049</a:t>
                      </a:r>
                    </a:p>
                  </a:txBody>
                  <a:tcPr marL="137160" marR="137160" marT="54864" marB="54864" anchor="ctr">
                    <a:solidFill>
                      <a:srgbClr val="F3E1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B728D99-21A2-9DC6-C96D-862AB091E407}"/>
              </a:ext>
            </a:extLst>
          </p:cNvPr>
          <p:cNvSpPr txBox="1"/>
          <p:nvPr/>
        </p:nvSpPr>
        <p:spPr>
          <a:xfrm>
            <a:off x="685800" y="6133281"/>
            <a:ext cx="10820095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 dirty="0">
                <a:solidFill>
                  <a:srgbClr val="6B7280"/>
                </a:solidFill>
                <a:latin typeface="Cambria"/>
              </a:rPr>
              <a:t>Changes in meters after the retraining.  Shaded: larger than seed variation (0.112 m for Δ</a:t>
            </a:r>
            <a:r>
              <a:rPr sz="1100" b="0" i="1" baseline="-25000" dirty="0">
                <a:solidFill>
                  <a:srgbClr val="6B7280"/>
                </a:solidFill>
                <a:latin typeface="Cambria"/>
              </a:rPr>
              <a:t>2</a:t>
            </a:r>
            <a:r>
              <a:rPr sz="1100" b="0" i="1" dirty="0">
                <a:solidFill>
                  <a:srgbClr val="6B7280"/>
                </a:solidFill>
                <a:latin typeface="Cambria"/>
              </a:rPr>
              <a:t>, 0.018 m for Δ</a:t>
            </a:r>
            <a:r>
              <a:rPr sz="1100" b="0" i="1" baseline="-25000" dirty="0">
                <a:solidFill>
                  <a:srgbClr val="6B7280"/>
                </a:solidFill>
                <a:latin typeface="Cambria"/>
              </a:rPr>
              <a:t>3</a:t>
            </a:r>
            <a:r>
              <a:rPr sz="1100" b="0" i="1" dirty="0">
                <a:solidFill>
                  <a:srgbClr val="6B7280"/>
                </a:solidFill>
                <a:latin typeface="Cambria"/>
              </a:rPr>
              <a:t>).  * Statistically significant.  Data: share of Singapore 1 used for the retraining.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0"/>
            <a:ext cx="86868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Appendix C: Details of the ML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05495" y="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 i="0" spc="200">
                <a:solidFill>
                  <a:srgbClr val="B08D57"/>
                </a:solidFill>
                <a:latin typeface="Cambria"/>
              </a:rPr>
              <a:t>APPENDIX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mbria"/>
              </a:rPr>
              <a:t>An Empirical Analysis of Entangled Enhancement in an Autonomous Driving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46520"/>
            <a:ext cx="914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i="0">
                <a:solidFill>
                  <a:srgbClr val="0B2545"/>
                </a:solidFill>
                <a:latin typeface="Cambria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25880"/>
            <a:ext cx="342381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85800" y="1325880"/>
            <a:ext cx="3423818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325880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1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Perception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3103778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YOLOv11n object detector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Input: front-camera image, 640 pixels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Trained 10 epochs on Boston 1, batch size 8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Last checkpoint used; the test scenes never select a model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mAP50 on the test scenes: 0.109 (seed 0), 0.117 (seed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3938" y="1325880"/>
            <a:ext cx="342381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83938" y="1325880"/>
            <a:ext cx="3423818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6818" y="1325880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2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Prediction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6818" y="1920240"/>
            <a:ext cx="3103778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AutoBot-Ego style transformer, centred on each target object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Input: detections in the last four labelled images, relative to the target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2 encoder and 2 decoder layers, 128 features, 4 attention heads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Output: six possible paths of 3 s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Same object across images found by attention, without a separate matching step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736,799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2076" y="1325880"/>
            <a:ext cx="342381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82076" y="1325880"/>
            <a:ext cx="3423818" cy="4572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64956" y="1325880"/>
            <a:ext cx="305805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mbria"/>
              </a:rPr>
              <a:t>C</a:t>
            </a:r>
            <a:r>
              <a:rPr sz="1500" b="1" i="0" baseline="-25000">
                <a:solidFill>
                  <a:srgbClr val="FFFFFF"/>
                </a:solidFill>
                <a:latin typeface="Cambria"/>
              </a:rPr>
              <a:t>3</a:t>
            </a:r>
            <a:r>
              <a:rPr sz="1500" b="1" i="0">
                <a:solidFill>
                  <a:srgbClr val="FFFFFF"/>
                </a:solidFill>
                <a:latin typeface="Cambria"/>
              </a:rPr>
              <a:t> · Planning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4956" y="1920240"/>
            <a:ext cx="3103778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PlanT style transformer, one input token per object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Object token: position, most likely path from C</a:t>
            </a:r>
            <a:r>
              <a:rPr sz="135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50" b="0" i="0">
                <a:solidFill>
                  <a:srgbClr val="1F2937"/>
                </a:solidFill>
                <a:latin typeface="Cambria"/>
              </a:rPr>
              <a:t>, class, confidence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Further tokens: driving command and ego path of the last 1.5 s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4 layers, 128 features, 4 attention heads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Recurrent decoder: six points of the planned path, 0.5 s apart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F2937"/>
                </a:solidFill>
                <a:latin typeface="Cambria"/>
              </a:rPr>
              <a:t>•  636,930 parameters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20640"/>
            <a:ext cx="10820095" cy="914400"/>
          </a:xfrm>
          <a:prstGeom prst="rect">
            <a:avLst/>
          </a:prstGeom>
          <a:solidFill>
            <a:srgbClr val="F6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85800" y="5120640"/>
            <a:ext cx="76200" cy="91440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20640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 spc="120">
                <a:solidFill>
                  <a:srgbClr val="B08D57"/>
                </a:solidFill>
                <a:latin typeface="Cambria"/>
              </a:rPr>
              <a:t>TRAINING OF</a:t>
            </a:r>
          </a:p>
          <a:p>
            <a:pPr algn="l"/>
            <a:r>
              <a:rPr sz="1200" b="1" i="0" spc="120">
                <a:solidFill>
                  <a:srgbClr val="B08D57"/>
                </a:solidFill>
                <a:latin typeface="Cambria"/>
              </a:rPr>
              <a:t>C</a:t>
            </a:r>
            <a:r>
              <a:rPr sz="1200" b="1" i="0" spc="120" baseline="-25000">
                <a:solidFill>
                  <a:srgbClr val="B08D57"/>
                </a:solidFill>
                <a:latin typeface="Cambria"/>
              </a:rPr>
              <a:t>2</a:t>
            </a:r>
            <a:r>
              <a:rPr sz="1200" b="1" i="0" spc="120">
                <a:solidFill>
                  <a:srgbClr val="B08D57"/>
                </a:solidFill>
                <a:latin typeface="Cambria"/>
              </a:rPr>
              <a:t> AND C</a:t>
            </a:r>
            <a:r>
              <a:rPr sz="1200" b="1" i="0" spc="120" baseline="-25000">
                <a:solidFill>
                  <a:srgbClr val="B08D57"/>
                </a:solidFill>
                <a:latin typeface="Cambri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5120640"/>
            <a:ext cx="844265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1F2937"/>
                </a:solidFill>
                <a:latin typeface="Cambria"/>
              </a:rPr>
              <a:t>Boston 2: 86 training and 14 validation scenes. Early stopping on the validation scenes (patience 8 epochs for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, 10 for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3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). Mirror and rotation (±10°) augmentation. The error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2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uses the objects of C</a:t>
            </a:r>
            <a:r>
              <a:rPr sz="1300" b="0" i="0" baseline="-25000">
                <a:solidFill>
                  <a:srgbClr val="1F2937"/>
                </a:solidFill>
                <a:latin typeface="Cambria"/>
              </a:rPr>
              <a:t>1</a:t>
            </a:r>
            <a:r>
              <a:rPr sz="1300" b="0" i="0">
                <a:solidFill>
                  <a:srgbClr val="1F2937"/>
                </a:solidFill>
                <a:latin typeface="Cambria"/>
              </a:rPr>
              <a:t> matched one to one with a ground-truth object of the same class.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3591</Words>
  <Application>Microsoft Macintosh PowerPoint</Application>
  <PresentationFormat>Widescreen</PresentationFormat>
  <Paragraphs>706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Rashedul Arefin Ifty</cp:lastModifiedBy>
  <cp:revision>19</cp:revision>
  <dcterms:created xsi:type="dcterms:W3CDTF">2013-01-27T09:14:16Z</dcterms:created>
  <dcterms:modified xsi:type="dcterms:W3CDTF">2026-10-14T03:40:03Z</dcterms:modified>
  <cp:category/>
</cp:coreProperties>
</file>